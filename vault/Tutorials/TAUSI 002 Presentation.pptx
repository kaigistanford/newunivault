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69"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26" autoAdjust="0"/>
    <p:restoredTop sz="94660"/>
  </p:normalViewPr>
  <p:slideViewPr>
    <p:cSldViewPr snapToGrid="0">
      <p:cViewPr varScale="1">
        <p:scale>
          <a:sx n="79" d="100"/>
          <a:sy n="79" d="100"/>
        </p:scale>
        <p:origin x="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8BC1E0E-6816-47C3-891C-D27227C42EE1}"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1183750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BC1E0E-6816-47C3-891C-D27227C42EE1}"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241984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8BC1E0E-6816-47C3-891C-D27227C42EE1}"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3591138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8BC1E0E-6816-47C3-891C-D27227C42EE1}"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3112985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BC1E0E-6816-47C3-891C-D27227C42EE1}" type="datetimeFigureOut">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775265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BC1E0E-6816-47C3-891C-D27227C42EE1}" type="datetimeFigureOut">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596383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BC1E0E-6816-47C3-891C-D27227C42EE1}" type="datetimeFigureOut">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4196425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BC1E0E-6816-47C3-891C-D27227C42EE1}"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330793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BC1E0E-6816-47C3-891C-D27227C42EE1}"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2733099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BC1E0E-6816-47C3-891C-D27227C42EE1}"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322748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BC1E0E-6816-47C3-891C-D27227C42EE1}"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A0C48A-8180-4EDA-A631-199A8E47AE00}" type="slidenum">
              <a:rPr lang="en-US" smtClean="0"/>
              <a:t>‹#›</a:t>
            </a:fld>
            <a:endParaRPr lang="en-US"/>
          </a:p>
        </p:txBody>
      </p:sp>
    </p:spTree>
    <p:extLst>
      <p:ext uri="{BB962C8B-B14F-4D97-AF65-F5344CB8AC3E}">
        <p14:creationId xmlns:p14="http://schemas.microsoft.com/office/powerpoint/2010/main" val="1085240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BC1E0E-6816-47C3-891C-D27227C42EE1}" type="datetimeFigureOut">
              <a:rPr lang="en-US" smtClean="0"/>
              <a:t>8/26/2024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A0C48A-8180-4EDA-A631-199A8E47AE00}" type="slidenum">
              <a:rPr lang="en-US" smtClean="0"/>
              <a:t>‹#›</a:t>
            </a:fld>
            <a:endParaRPr lang="en-US"/>
          </a:p>
        </p:txBody>
      </p:sp>
    </p:spTree>
    <p:extLst>
      <p:ext uri="{BB962C8B-B14F-4D97-AF65-F5344CB8AC3E}">
        <p14:creationId xmlns:p14="http://schemas.microsoft.com/office/powerpoint/2010/main" val="1761874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1125" y="1502832"/>
            <a:ext cx="9480885" cy="4221669"/>
          </a:xfrm>
          <a:prstGeom prst="rect">
            <a:avLst/>
          </a:prstGeom>
        </p:spPr>
        <p:txBody>
          <a:bodyPr wrap="square">
            <a:spAutoFit/>
          </a:bodyPr>
          <a:lstStyle/>
          <a:p>
            <a:pPr algn="ctr">
              <a:lnSpc>
                <a:spcPct val="200000"/>
              </a:lnSpc>
              <a:spcAft>
                <a:spcPts val="1000"/>
              </a:spcAft>
            </a:pPr>
            <a:r>
              <a:rPr lang="en-US" sz="2400" b="1" dirty="0">
                <a:latin typeface="Times New Roman" panose="02020603050405020304" pitchFamily="18" charset="0"/>
                <a:ea typeface="SimSun" panose="02010600030101010101" pitchFamily="2" charset="-122"/>
                <a:cs typeface="Times New Roman" panose="02020603050405020304" pitchFamily="18" charset="0"/>
              </a:rPr>
              <a:t>CONTRIBUTION OF PALM KERNEL OIL PRODUCTION IN IMPROVING FARMERS WELL-BEING IN KYELA DISTRICT: A CASE OF NDANDALO WARD </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ctr">
              <a:lnSpc>
                <a:spcPct val="200000"/>
              </a:lnSpc>
              <a:spcBef>
                <a:spcPts val="1200"/>
              </a:spcBef>
              <a:spcAft>
                <a:spcPts val="0"/>
              </a:spcAft>
            </a:pPr>
            <a:r>
              <a:rPr lang="en-US" sz="2400" b="1" dirty="0">
                <a:latin typeface="Times New Roman" panose="02020603050405020304" pitchFamily="18" charset="0"/>
                <a:ea typeface="SimSun" panose="02010600030101010101" pitchFamily="2" charset="-122"/>
                <a:cs typeface="Times New Roman" panose="02020603050405020304" pitchFamily="18" charset="0"/>
              </a:rPr>
              <a:t>BY</a:t>
            </a:r>
            <a:endParaRPr lang="en-US" sz="2000" dirty="0">
              <a:latin typeface="Calibri" panose="020F0502020204030204" pitchFamily="34" charset="0"/>
              <a:ea typeface="SimSun" panose="02010600030101010101" pitchFamily="2" charset="-122"/>
              <a:cs typeface="Times New Roman" panose="02020603050405020304" pitchFamily="18" charset="0"/>
            </a:endParaRPr>
          </a:p>
          <a:p>
            <a:pPr algn="ctr">
              <a:lnSpc>
                <a:spcPct val="200000"/>
              </a:lnSpc>
              <a:spcBef>
                <a:spcPts val="1200"/>
              </a:spcBef>
              <a:spcAft>
                <a:spcPts val="1000"/>
              </a:spcAft>
            </a:pPr>
            <a:r>
              <a:rPr lang="en-US" sz="2400" b="1" dirty="0">
                <a:latin typeface="Times New Roman" panose="02020603050405020304" pitchFamily="18" charset="0"/>
                <a:ea typeface="SimSun" panose="02010600030101010101" pitchFamily="2" charset="-122"/>
                <a:cs typeface="Times New Roman" panose="02020603050405020304" pitchFamily="18" charset="0"/>
              </a:rPr>
              <a:t>TAUSI S. MWABUSEGA</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340479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9539" y="277123"/>
            <a:ext cx="11162805" cy="6201698"/>
          </a:xfrm>
          <a:prstGeom prst="rect">
            <a:avLst/>
          </a:prstGeom>
        </p:spPr>
        <p:txBody>
          <a:bodyPr wrap="square">
            <a:spAutoFit/>
          </a:bodyPr>
          <a:lstStyle/>
          <a:p>
            <a:pPr algn="ctr">
              <a:lnSpc>
                <a:spcPct val="150000"/>
              </a:lnSpc>
              <a:spcAft>
                <a:spcPts val="1000"/>
              </a:spcAft>
            </a:pPr>
            <a:r>
              <a:rPr lang="en-US" sz="3200" b="1" dirty="0" smtClean="0">
                <a:effectLst/>
                <a:latin typeface="Times New Roman" panose="02020603050405020304" pitchFamily="18" charset="0"/>
                <a:ea typeface="SimSun" panose="02010600030101010101" pitchFamily="2" charset="-122"/>
                <a:cs typeface="Times New Roman" panose="02020603050405020304" pitchFamily="18" charset="0"/>
              </a:rPr>
              <a:t>PROBLEM STATEMENT </a:t>
            </a:r>
            <a:endParaRPr lang="en-US" sz="2800" b="1" dirty="0" smtClean="0">
              <a:effectLst/>
              <a:latin typeface="Calibri" panose="020F0502020204030204" pitchFamily="34" charset="0"/>
              <a:ea typeface="SimSun" panose="02010600030101010101" pitchFamily="2" charset="-122"/>
              <a:cs typeface="Times New Roman" panose="02020603050405020304" pitchFamily="18" charset="0"/>
            </a:endParaRPr>
          </a:p>
          <a:p>
            <a:pPr marL="342900" indent="-342900" algn="just">
              <a:lnSpc>
                <a:spcPct val="150000"/>
              </a:lnSpc>
              <a:spcAft>
                <a:spcPts val="1000"/>
              </a:spcAft>
              <a:buFont typeface="Arial" panose="020B0604020202020204" pitchFamily="34" charset="0"/>
              <a:buChar char="•"/>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Several </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researchers indicates that the use of improved seeds varieties and mechanization is the key in increasing palm kernel oil productivity and farmers well-being (TIC, 2020).</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marL="342900" indent="-342900" algn="just">
              <a:lnSpc>
                <a:spcPct val="150000"/>
              </a:lnSpc>
              <a:spcAft>
                <a:spcPts val="1000"/>
              </a:spcAft>
              <a:buFont typeface="Arial" panose="020B0604020202020204" pitchFamily="34" charset="0"/>
              <a:buChar char="•"/>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Basing </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to the empirical data of production trend of palm kernel oil , in 2021  the ward produced 11,750 liters and in 2022 produced 33,340  liters of light -yellow kernel oil (KYECU LTD REPORT, 2023)</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marL="342900" indent="-342900" algn="just">
              <a:lnSpc>
                <a:spcPct val="150000"/>
              </a:lnSpc>
              <a:spcAft>
                <a:spcPts val="1000"/>
              </a:spcAft>
              <a:buFont typeface="Arial" panose="020B0604020202020204" pitchFamily="34" charset="0"/>
              <a:buChar char="•"/>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Despite of all values, market access and  highest production of palm kernel oil still farmers have low level of well-being. So this study intended to assess the contribution of palm kernel oil production in improving farmers well-being in </a:t>
            </a:r>
            <a:r>
              <a:rPr lang="en-US" sz="2400" dirty="0" err="1" smtClean="0">
                <a:effectLst/>
                <a:latin typeface="Times New Roman" panose="02020603050405020304" pitchFamily="18" charset="0"/>
                <a:ea typeface="SimSun" panose="02010600030101010101" pitchFamily="2" charset="-122"/>
                <a:cs typeface="Times New Roman" panose="02020603050405020304" pitchFamily="18" charset="0"/>
              </a:rPr>
              <a:t>Ndandalo</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 ward. </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67009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1683" y="549634"/>
            <a:ext cx="11261766" cy="6365845"/>
          </a:xfrm>
          <a:prstGeom prst="rect">
            <a:avLst/>
          </a:prstGeom>
        </p:spPr>
        <p:txBody>
          <a:bodyPr wrap="square">
            <a:spAutoFit/>
          </a:bodyPr>
          <a:lstStyle/>
          <a:p>
            <a:pPr algn="ctr">
              <a:lnSpc>
                <a:spcPct val="150000"/>
              </a:lnSpc>
              <a:spcBef>
                <a:spcPts val="1000"/>
              </a:spcBef>
              <a:spcAft>
                <a:spcPts val="0"/>
              </a:spcAft>
              <a:tabLst>
                <a:tab pos="342900" algn="l"/>
              </a:tabLst>
            </a:pPr>
            <a:r>
              <a:rPr lang="en-US" sz="2800" b="1" dirty="0" smtClean="0">
                <a:effectLst/>
                <a:latin typeface="Times New Roman" panose="02020603050405020304" pitchFamily="18" charset="0"/>
                <a:cs typeface="SimSun" panose="02010600030101010101" pitchFamily="2" charset="-122"/>
              </a:rPr>
              <a:t>RESEARCH OBJECTIVES </a:t>
            </a:r>
          </a:p>
          <a:p>
            <a:pPr>
              <a:lnSpc>
                <a:spcPct val="150000"/>
              </a:lnSpc>
              <a:spcBef>
                <a:spcPts val="1000"/>
              </a:spcBef>
              <a:spcAft>
                <a:spcPts val="0"/>
              </a:spcAft>
              <a:tabLst>
                <a:tab pos="342900" algn="l"/>
              </a:tabLst>
            </a:pPr>
            <a:r>
              <a:rPr lang="en-US" sz="2400" b="1" dirty="0" smtClean="0">
                <a:effectLst/>
                <a:latin typeface="Times New Roman" panose="02020603050405020304" pitchFamily="18" charset="0"/>
                <a:cs typeface="SimSun" panose="02010600030101010101" pitchFamily="2" charset="-122"/>
              </a:rPr>
              <a:t>General </a:t>
            </a:r>
            <a:r>
              <a:rPr lang="en-US" sz="2400" b="1" dirty="0" smtClean="0">
                <a:effectLst/>
                <a:latin typeface="Times New Roman" panose="02020603050405020304" pitchFamily="18" charset="0"/>
                <a:cs typeface="SimSun" panose="02010600030101010101" pitchFamily="2" charset="-122"/>
              </a:rPr>
              <a:t>objective</a:t>
            </a:r>
            <a:endParaRPr lang="en-US" sz="2800" b="1" dirty="0" smtClean="0">
              <a:effectLst/>
              <a:latin typeface="Cambria" panose="02040503050406030204" pitchFamily="18" charset="0"/>
              <a:cs typeface="SimSun" panose="02010600030101010101" pitchFamily="2" charset="-122"/>
            </a:endParaRPr>
          </a:p>
          <a:p>
            <a:pPr algn="just">
              <a:lnSpc>
                <a:spcPct val="150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To assess the contribution of palm kernel oil production in improving farmers well-being in </a:t>
            </a:r>
            <a:r>
              <a:rPr lang="en-US" sz="2400" dirty="0" err="1" smtClean="0">
                <a:effectLst/>
                <a:latin typeface="Times New Roman" panose="02020603050405020304" pitchFamily="18" charset="0"/>
                <a:ea typeface="SimSun" panose="02010600030101010101" pitchFamily="2" charset="-122"/>
                <a:cs typeface="Times New Roman" panose="02020603050405020304" pitchFamily="18" charset="0"/>
              </a:rPr>
              <a:t>Ndandalo</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 ward </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a:lnSpc>
                <a:spcPct val="150000"/>
              </a:lnSpc>
              <a:spcBef>
                <a:spcPts val="1000"/>
              </a:spcBef>
              <a:spcAft>
                <a:spcPts val="0"/>
              </a:spcAft>
              <a:tabLst>
                <a:tab pos="342900" algn="l"/>
              </a:tabLst>
            </a:pPr>
            <a:r>
              <a:rPr lang="en-US" sz="2400" b="1" dirty="0" smtClean="0">
                <a:effectLst/>
                <a:latin typeface="Times New Roman" panose="02020603050405020304" pitchFamily="18" charset="0"/>
                <a:cs typeface="SimSun" panose="02010600030101010101" pitchFamily="2" charset="-122"/>
              </a:rPr>
              <a:t> </a:t>
            </a:r>
            <a:r>
              <a:rPr lang="en-US" sz="2400" b="1" dirty="0" smtClean="0">
                <a:effectLst/>
                <a:latin typeface="Times New Roman" panose="02020603050405020304" pitchFamily="18" charset="0"/>
                <a:cs typeface="SimSun" panose="02010600030101010101" pitchFamily="2" charset="-122"/>
              </a:rPr>
              <a:t>Specific Objectives</a:t>
            </a:r>
            <a:endParaRPr lang="en-US" sz="2800" b="1" dirty="0" smtClean="0">
              <a:effectLst/>
              <a:latin typeface="Cambria" panose="02040503050406030204" pitchFamily="18" charset="0"/>
              <a:cs typeface="SimSun" panose="02010600030101010101" pitchFamily="2" charset="-122"/>
            </a:endParaRPr>
          </a:p>
          <a:p>
            <a:pPr algn="just">
              <a:lnSpc>
                <a:spcPct val="150000"/>
              </a:lnSpc>
              <a:spcAft>
                <a:spcPts val="1000"/>
              </a:spcAft>
            </a:pPr>
            <a:r>
              <a:rPr lang="en-US" sz="2400" dirty="0" err="1" smtClean="0">
                <a:effectLst/>
                <a:latin typeface="Times New Roman" panose="02020603050405020304" pitchFamily="18" charset="0"/>
                <a:ea typeface="SimSun" panose="02010600030101010101" pitchFamily="2" charset="-122"/>
                <a:cs typeface="Times New Roman" panose="02020603050405020304" pitchFamily="18" charset="0"/>
              </a:rPr>
              <a:t>i</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 To determine income generated from palm kernel oil production in the study area </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50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ii. To examine social services accessed by palm kernel oil production farmers in the study area.</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50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iii. To examine asset ownership among the palm kernel oil production farmers in the study area.</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24858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57116499"/>
              </p:ext>
            </p:extLst>
          </p:nvPr>
        </p:nvGraphicFramePr>
        <p:xfrm>
          <a:off x="142503" y="754148"/>
          <a:ext cx="11934702" cy="5979160"/>
        </p:xfrm>
        <a:graphic>
          <a:graphicData uri="http://schemas.openxmlformats.org/drawingml/2006/table">
            <a:tbl>
              <a:tblPr firstRow="1" bandRow="1">
                <a:tableStyleId>{2D5ABB26-0587-4C30-8999-92F81FD0307C}</a:tableStyleId>
              </a:tblPr>
              <a:tblGrid>
                <a:gridCol w="5967351"/>
                <a:gridCol w="5967351"/>
              </a:tblGrid>
              <a:tr h="5778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effectLst/>
                          <a:latin typeface="Times New Roman" panose="02020603050405020304" pitchFamily="18" charset="0"/>
                          <a:cs typeface="Times New Roman" panose="02020603050405020304" pitchFamily="18" charset="0"/>
                        </a:rPr>
                        <a:t>Research questions </a:t>
                      </a:r>
                      <a:endParaRPr lang="en-US" sz="2000" b="1" dirty="0" smtClean="0">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smtClean="0">
                          <a:effectLst/>
                          <a:latin typeface="Times New Roman" panose="02020603050405020304" pitchFamily="18" charset="0"/>
                          <a:cs typeface="Times New Roman" panose="02020603050405020304" pitchFamily="18" charset="0"/>
                        </a:rPr>
                        <a:t>Variables </a:t>
                      </a:r>
                      <a:endParaRPr lang="en-US"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01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effectLst/>
                          <a:latin typeface="Times New Roman" panose="02020603050405020304" pitchFamily="18" charset="0"/>
                          <a:cs typeface="Times New Roman" panose="02020603050405020304" pitchFamily="18" charset="0"/>
                        </a:rPr>
                        <a:t>i</a:t>
                      </a:r>
                      <a:r>
                        <a:rPr lang="en-US" dirty="0" smtClean="0">
                          <a:effectLst/>
                          <a:latin typeface="Times New Roman" panose="02020603050405020304" pitchFamily="18" charset="0"/>
                          <a:cs typeface="Times New Roman" panose="02020603050405020304" pitchFamily="18" charset="0"/>
                        </a:rPr>
                        <a:t>. What is the income generated from palm kernel oil production in the study area?</a:t>
                      </a:r>
                      <a:endParaRPr lang="en-US" sz="1600" dirty="0" smtClean="0">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Income from palm kernel oil</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100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Income from other activities </a:t>
                      </a:r>
                      <a:endParaRPr lang="en-US" sz="1600" dirty="0" smtClean="0">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78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latin typeface="Times New Roman" panose="02020603050405020304" pitchFamily="18" charset="0"/>
                          <a:cs typeface="Times New Roman" panose="02020603050405020304" pitchFamily="18" charset="0"/>
                        </a:rPr>
                        <a:t>ii.What are social services accessed by palm kernel oil production farmers in the study area?</a:t>
                      </a:r>
                      <a:endParaRPr lang="en-US" sz="1600" dirty="0" smtClean="0">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Schooling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health bills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Food security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Access to water services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100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Offerings </a:t>
                      </a:r>
                      <a:endParaRPr lang="en-US" sz="16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590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latin typeface="Times New Roman" panose="02020603050405020304" pitchFamily="18" charset="0"/>
                          <a:cs typeface="Times New Roman" panose="02020603050405020304" pitchFamily="18" charset="0"/>
                        </a:rPr>
                        <a:t>iii. What are asset owned by palm kernel oil farmers in the study area?</a:t>
                      </a:r>
                      <a:endParaRPr lang="en-US" sz="1600" dirty="0" smtClean="0">
                        <a:effectLst/>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Land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Housing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Means of transport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Furniture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Radios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Phones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Kitchen utensils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Television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Machines </a:t>
                      </a:r>
                      <a:endParaRPr lang="en-US" sz="1600" dirty="0" smtClean="0">
                        <a:effectLst/>
                        <a:latin typeface="Times New Roman" panose="02020603050405020304" pitchFamily="18" charset="0"/>
                        <a:cs typeface="Times New Roman" panose="02020603050405020304" pitchFamily="18" charset="0"/>
                      </a:endParaRPr>
                    </a:p>
                    <a:p>
                      <a:pPr marL="342900" lvl="0" indent="-342900" algn="just">
                        <a:spcAft>
                          <a:spcPts val="1000"/>
                        </a:spcAft>
                        <a:buFont typeface="Symbol" panose="05050102010706020507" pitchFamily="18" charset="2"/>
                        <a:buChar char=""/>
                      </a:pPr>
                      <a:r>
                        <a:rPr lang="en-US" dirty="0" smtClean="0">
                          <a:effectLst/>
                          <a:latin typeface="Times New Roman" panose="02020603050405020304" pitchFamily="18" charset="0"/>
                          <a:cs typeface="Times New Roman" panose="02020603050405020304" pitchFamily="18" charset="0"/>
                        </a:rPr>
                        <a:t>Mattresses </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Rectangle 1"/>
          <p:cNvSpPr/>
          <p:nvPr/>
        </p:nvSpPr>
        <p:spPr>
          <a:xfrm>
            <a:off x="2961694" y="128154"/>
            <a:ext cx="4844403" cy="369332"/>
          </a:xfrm>
          <a:prstGeom prst="rect">
            <a:avLst/>
          </a:prstGeom>
        </p:spPr>
        <p:txBody>
          <a:bodyPr wrap="none">
            <a:spAutoFit/>
          </a:bodyPr>
          <a:lstStyle/>
          <a:p>
            <a:pPr>
              <a:defRPr/>
            </a:pPr>
            <a:r>
              <a:rPr lang="en-US" b="1" dirty="0" smtClean="0">
                <a:latin typeface="Times New Roman" panose="02020603050405020304" pitchFamily="18" charset="0"/>
                <a:cs typeface="Times New Roman" panose="02020603050405020304" pitchFamily="18" charset="0"/>
              </a:rPr>
              <a:t>RESEARCH QUESTIONS AND VARIABLES </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48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444" y="333371"/>
            <a:ext cx="11602192" cy="4909036"/>
          </a:xfrm>
          <a:prstGeom prst="rect">
            <a:avLst/>
          </a:prstGeom>
        </p:spPr>
        <p:txBody>
          <a:bodyPr wrap="square">
            <a:spAutoFit/>
          </a:bodyPr>
          <a:lstStyle/>
          <a:p>
            <a:pPr algn="ctr">
              <a:lnSpc>
                <a:spcPct val="200000"/>
              </a:lnSpc>
              <a:spcAft>
                <a:spcPts val="1000"/>
              </a:spcAft>
            </a:pPr>
            <a:r>
              <a:rPr lang="en-US" sz="2400" b="1" dirty="0" smtClean="0">
                <a:effectLst/>
                <a:latin typeface="Times New Roman" panose="02020603050405020304" pitchFamily="18" charset="0"/>
                <a:ea typeface="SimSun" panose="02010600030101010101" pitchFamily="2" charset="-122"/>
                <a:cs typeface="Times New Roman" panose="02020603050405020304" pitchFamily="18" charset="0"/>
              </a:rPr>
              <a:t>SIGNIFICANCE OF STUDY </a:t>
            </a:r>
            <a:endParaRPr lang="en-US" sz="2000" b="1" dirty="0" smtClean="0">
              <a:effectLst/>
              <a:latin typeface="Calibri" panose="020F0502020204030204" pitchFamily="34" charset="0"/>
              <a:ea typeface="SimSun" panose="02010600030101010101" pitchFamily="2" charset="-122"/>
              <a:cs typeface="Times New Roman" panose="02020603050405020304" pitchFamily="18" charset="0"/>
            </a:endParaRPr>
          </a:p>
          <a:p>
            <a:pPr marL="342900" indent="-342900" algn="just">
              <a:lnSpc>
                <a:spcPct val="200000"/>
              </a:lnSpc>
              <a:spcAft>
                <a:spcPts val="1000"/>
              </a:spcAft>
              <a:buFont typeface="Arial" panose="020B0604020202020204" pitchFamily="34" charset="0"/>
              <a:buChar char="•"/>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The study aims to provide the insights into socio-economic impact of palm kernel oil production on farmers well-being. </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marL="342900" indent="-342900" algn="just">
              <a:lnSpc>
                <a:spcPct val="200000"/>
              </a:lnSpc>
              <a:spcAft>
                <a:spcPts val="1000"/>
              </a:spcAft>
              <a:buFont typeface="Arial" panose="020B0604020202020204" pitchFamily="34" charset="0"/>
              <a:buChar char="•"/>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The study will help others researchers to use as reference in their studies </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marL="342900" indent="-342900" algn="just">
              <a:lnSpc>
                <a:spcPct val="200000"/>
              </a:lnSpc>
              <a:spcAft>
                <a:spcPts val="1000"/>
              </a:spcAft>
              <a:buFont typeface="Arial" panose="020B0604020202020204" pitchFamily="34" charset="0"/>
              <a:buChar char="•"/>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The findings will also be valuable for policymakers, palm kernel oil production stakeholders and the local community in general. </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514358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a:xfrm>
            <a:off x="264695" y="830179"/>
            <a:ext cx="10635916" cy="5943600"/>
            <a:chOff x="0" y="0"/>
            <a:chExt cx="5269479" cy="4020340"/>
          </a:xfrm>
        </p:grpSpPr>
        <p:sp>
          <p:nvSpPr>
            <p:cNvPr id="3" name="Rectangle 2"/>
            <p:cNvSpPr/>
            <p:nvPr/>
          </p:nvSpPr>
          <p:spPr>
            <a:xfrm>
              <a:off x="0" y="824612"/>
              <a:ext cx="1865244" cy="3195728"/>
            </a:xfrm>
            <a:prstGeom prst="rect">
              <a:avLst/>
            </a:prstGeom>
            <a:solidFill>
              <a:srgbClr val="FFFFFF"/>
            </a:solidFill>
            <a:ln w="25400" cap="flat" cmpd="sng">
              <a:solidFill>
                <a:srgbClr val="000000"/>
              </a:solidFill>
              <a:prstDash val="solid"/>
              <a:round/>
              <a:headEnd type="none" w="med" len="med"/>
              <a:tailEnd type="none" w="med" len="med"/>
            </a:ln>
          </p:spPr>
          <p:txBody>
            <a:bodyPr vert="horz" wrap="square" lIns="91440" tIns="45720" rIns="91440" bIns="45720" anchor="ctr">
              <a:prstTxWarp prst="textNoShape">
                <a:avLst/>
              </a:prstTxWarp>
              <a:noAutofit/>
            </a:bodyPr>
            <a:lstStyle/>
            <a:p>
              <a:pPr algn="just">
                <a:spcAft>
                  <a:spcPts val="0"/>
                </a:spcAft>
              </a:pPr>
              <a:r>
                <a:rPr lang="en-US" sz="15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Income</a:t>
              </a:r>
              <a:endParaRPr lang="en-US" sz="1500" dirty="0">
                <a:effectLst/>
                <a:latin typeface="Calibri" panose="020F0502020204030204" pitchFamily="34" charset="0"/>
                <a:ea typeface="SimSun" panose="02010600030101010101" pitchFamily="2" charset="-122"/>
                <a:cs typeface="Times New Roman" panose="02020603050405020304" pitchFamily="18" charset="0"/>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Income from palm kernel oil</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Income from other activities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algn="just">
                <a:spcAft>
                  <a:spcPts val="0"/>
                </a:spcAft>
              </a:pPr>
              <a:r>
                <a:rPr lang="en-US" sz="15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Social service</a:t>
              </a:r>
              <a:endParaRPr lang="en-US" sz="1500" dirty="0">
                <a:effectLst/>
                <a:latin typeface="Calibri" panose="020F0502020204030204" pitchFamily="34" charset="0"/>
                <a:ea typeface="SimSun" panose="02010600030101010101" pitchFamily="2" charset="-122"/>
                <a:cs typeface="Times New Roman" panose="02020603050405020304" pitchFamily="18" charset="0"/>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Schooling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Health bills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Food security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Access to water services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Offerings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algn="just">
                <a:spcAft>
                  <a:spcPts val="0"/>
                </a:spcAft>
              </a:pPr>
              <a:r>
                <a:rPr lang="en-US" sz="15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Asset ownership</a:t>
              </a:r>
              <a:endParaRPr lang="en-US" sz="1500" dirty="0">
                <a:effectLst/>
                <a:latin typeface="Calibri" panose="020F0502020204030204" pitchFamily="34" charset="0"/>
                <a:ea typeface="SimSun" panose="02010600030101010101" pitchFamily="2" charset="-122"/>
                <a:cs typeface="Times New Roman" panose="02020603050405020304" pitchFamily="18" charset="0"/>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Land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Housing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Means of transport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Furniture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Radios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Phones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Kitchen utensils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Television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Machines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gn="just">
                <a:spcAft>
                  <a:spcPts val="0"/>
                </a:spcAft>
                <a:buFont typeface="Arial" panose="020B0604020202020204" pitchFamily="34" charset="0"/>
                <a:buChar char="•"/>
              </a:pPr>
              <a:r>
                <a:rPr lang="en-US" sz="15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Mattresses </a:t>
              </a:r>
              <a:endParaRPr lang="en-US" sz="1500" dirty="0">
                <a:effectLst/>
                <a:latin typeface="Calibri" panose="020F0502020204030204" pitchFamily="34" charset="0"/>
                <a:ea typeface="Calibri" panose="020F0502020204030204" pitchFamily="34" charset="0"/>
                <a:cs typeface="SimSun" panose="02010600030101010101" pitchFamily="2" charset="-122"/>
              </a:endParaRPr>
            </a:p>
            <a:p>
              <a:pPr algn="ctr">
                <a:spcAft>
                  <a:spcPts val="0"/>
                </a:spcAft>
              </a:pPr>
              <a:r>
                <a:rPr lang="en-US" sz="1500" dirty="0">
                  <a:effectLst/>
                  <a:latin typeface="Calibri" panose="020F0502020204030204" pitchFamily="34" charset="0"/>
                  <a:ea typeface="SimSun" panose="02010600030101010101" pitchFamily="2" charset="-122"/>
                  <a:cs typeface="Times New Roman" panose="02020603050405020304" pitchFamily="18" charset="0"/>
                </a:rPr>
                <a:t> </a:t>
              </a:r>
            </a:p>
          </p:txBody>
        </p:sp>
        <p:sp>
          <p:nvSpPr>
            <p:cNvPr id="4" name="Rectangle 3"/>
            <p:cNvSpPr/>
            <p:nvPr/>
          </p:nvSpPr>
          <p:spPr>
            <a:xfrm>
              <a:off x="2266122" y="930246"/>
              <a:ext cx="1114425" cy="1063648"/>
            </a:xfrm>
            <a:prstGeom prst="rect">
              <a:avLst/>
            </a:prstGeom>
            <a:solidFill>
              <a:srgbClr val="FFFFFF"/>
            </a:solidFill>
            <a:ln w="25400" cap="flat" cmpd="sng">
              <a:solidFill>
                <a:srgbClr val="000000"/>
              </a:solidFill>
              <a:prstDash val="solid"/>
              <a:round/>
              <a:headEnd type="none" w="med" len="med"/>
              <a:tailEnd type="none" w="med" len="med"/>
            </a:ln>
          </p:spPr>
          <p:txBody>
            <a:bodyPr vert="horz" wrap="square" lIns="91440" tIns="45720" rIns="91440" bIns="45720" anchor="t">
              <a:prstTxWarp prst="textNoShape">
                <a:avLst/>
              </a:prstTxWarp>
              <a:noAutofit/>
            </a:bodyPr>
            <a:lstStyle/>
            <a:p>
              <a:pPr marL="285750" indent="-285750">
                <a:lnSpc>
                  <a:spcPct val="115000"/>
                </a:lnSpc>
                <a:spcAft>
                  <a:spcPts val="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Government support</a:t>
              </a:r>
              <a:endParaRPr lang="en-US" sz="2400" dirty="0">
                <a:effectLst/>
                <a:latin typeface="Calibri" panose="020F0502020204030204" pitchFamily="34" charset="0"/>
                <a:ea typeface="SimSun" panose="02010600030101010101" pitchFamily="2" charset="-122"/>
                <a:cs typeface="Times New Roman" panose="02020603050405020304" pitchFamily="18" charset="0"/>
              </a:endParaRPr>
            </a:p>
            <a:p>
              <a:pPr marL="285750" indent="-285750">
                <a:lnSpc>
                  <a:spcPct val="115000"/>
                </a:lnSpc>
                <a:spcAft>
                  <a:spcPts val="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Technology</a:t>
              </a:r>
              <a:endParaRPr lang="en-US" sz="2400" dirty="0">
                <a:effectLst/>
                <a:latin typeface="Calibri" panose="020F0502020204030204" pitchFamily="34" charset="0"/>
                <a:ea typeface="SimSun" panose="02010600030101010101" pitchFamily="2" charset="-122"/>
                <a:cs typeface="Times New Roman" panose="02020603050405020304" pitchFamily="18" charset="0"/>
              </a:endParaRPr>
            </a:p>
            <a:p>
              <a:pPr marL="285750" indent="-285750">
                <a:lnSpc>
                  <a:spcPct val="115000"/>
                </a:lnSpc>
                <a:spcAft>
                  <a:spcPts val="0"/>
                </a:spcAft>
                <a:buFont typeface="Arial" panose="020B0604020202020204" pitchFamily="34" charset="0"/>
                <a:buChar char="•"/>
              </a:pPr>
              <a:r>
                <a:rPr lang="en-US" dirty="0">
                  <a:effectLst/>
                  <a:latin typeface="Times New Roman" panose="02020603050405020304" pitchFamily="18" charset="0"/>
                  <a:ea typeface="SimSun" panose="02010600030101010101" pitchFamily="2" charset="-122"/>
                  <a:cs typeface="Times New Roman" panose="02020603050405020304" pitchFamily="18" charset="0"/>
                </a:rPr>
                <a:t>Market access</a:t>
              </a:r>
              <a:endParaRPr lang="en-US" sz="24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5" name="Rectangle 4"/>
            <p:cNvSpPr/>
            <p:nvPr/>
          </p:nvSpPr>
          <p:spPr>
            <a:xfrm>
              <a:off x="63611" y="15902"/>
              <a:ext cx="1352550" cy="504825"/>
            </a:xfrm>
            <a:prstGeom prst="rect">
              <a:avLst/>
            </a:prstGeom>
            <a:solidFill>
              <a:srgbClr val="FFFFFF"/>
            </a:solidFill>
            <a:ln w="25400" cap="flat" cmpd="sng">
              <a:solidFill>
                <a:srgbClr val="000000"/>
              </a:solidFill>
              <a:prstDash val="solid"/>
              <a:round/>
              <a:headEnd type="none" w="med" len="med"/>
              <a:tailEnd type="none" w="med" len="med"/>
            </a:ln>
          </p:spPr>
          <p:txBody>
            <a:bodyPr vert="horz" wrap="square" lIns="91440" tIns="45720" rIns="91440" bIns="45720" anchor="ctr">
              <a:prstTxWarp prst="textNoShape">
                <a:avLst/>
              </a:prstTxWarp>
              <a:noAutofit/>
            </a:bodyPr>
            <a:lstStyle/>
            <a:p>
              <a:pPr algn="ctr">
                <a:lnSpc>
                  <a:spcPct val="115000"/>
                </a:lnSpc>
                <a:spcAft>
                  <a:spcPts val="1000"/>
                </a:spcAf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Independent variables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6" name="Rectangle 5"/>
            <p:cNvSpPr/>
            <p:nvPr/>
          </p:nvSpPr>
          <p:spPr>
            <a:xfrm>
              <a:off x="1979875" y="0"/>
              <a:ext cx="1390650" cy="504825"/>
            </a:xfrm>
            <a:prstGeom prst="rect">
              <a:avLst/>
            </a:prstGeom>
            <a:solidFill>
              <a:srgbClr val="FFFFFF"/>
            </a:solidFill>
            <a:ln w="25400" cap="flat" cmpd="sng">
              <a:solidFill>
                <a:srgbClr val="000000"/>
              </a:solidFill>
              <a:prstDash val="solid"/>
              <a:round/>
              <a:headEnd type="none" w="med" len="med"/>
              <a:tailEnd type="none" w="med" len="med"/>
            </a:ln>
          </p:spPr>
          <p:txBody>
            <a:bodyPr vert="horz" wrap="square" lIns="91440" tIns="45720" rIns="91440" bIns="45720" anchor="ctr">
              <a:prstTxWarp prst="textNoShape">
                <a:avLst/>
              </a:prstTxWarp>
              <a:noAutofit/>
            </a:bodyPr>
            <a:lstStyle/>
            <a:p>
              <a:pPr algn="ctr">
                <a:lnSpc>
                  <a:spcPct val="115000"/>
                </a:lnSpc>
                <a:spcAft>
                  <a:spcPts val="1000"/>
                </a:spcAf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Intermediate variables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Rectangle 6"/>
            <p:cNvSpPr/>
            <p:nvPr/>
          </p:nvSpPr>
          <p:spPr>
            <a:xfrm>
              <a:off x="3848432" y="39756"/>
              <a:ext cx="1323975" cy="495300"/>
            </a:xfrm>
            <a:prstGeom prst="rect">
              <a:avLst/>
            </a:prstGeom>
            <a:solidFill>
              <a:srgbClr val="FFFFFF"/>
            </a:solidFill>
            <a:ln w="25400" cap="flat" cmpd="sng">
              <a:solidFill>
                <a:srgbClr val="000000"/>
              </a:solidFill>
              <a:prstDash val="solid"/>
              <a:round/>
              <a:headEnd type="none" w="med" len="med"/>
              <a:tailEnd type="none" w="med" len="med"/>
            </a:ln>
          </p:spPr>
          <p:txBody>
            <a:bodyPr vert="horz" wrap="square" lIns="91440" tIns="45720" rIns="91440" bIns="45720" anchor="ctr">
              <a:prstTxWarp prst="textNoShape">
                <a:avLst/>
              </a:prstTxWarp>
              <a:noAutofit/>
            </a:bodyPr>
            <a:lstStyle/>
            <a:p>
              <a:pPr algn="ctr">
                <a:lnSpc>
                  <a:spcPct val="115000"/>
                </a:lnSpc>
                <a:spcAft>
                  <a:spcPts val="1000"/>
                </a:spcAf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Dependent variables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8" name="Rectangle 7"/>
            <p:cNvSpPr/>
            <p:nvPr/>
          </p:nvSpPr>
          <p:spPr>
            <a:xfrm>
              <a:off x="3983604" y="914400"/>
              <a:ext cx="1285875" cy="762000"/>
            </a:xfrm>
            <a:prstGeom prst="rect">
              <a:avLst/>
            </a:prstGeom>
            <a:solidFill>
              <a:srgbClr val="FFFFFF"/>
            </a:solidFill>
            <a:ln w="25400" cap="flat" cmpd="sng">
              <a:solidFill>
                <a:srgbClr val="000000"/>
              </a:solidFill>
              <a:prstDash val="solid"/>
              <a:round/>
              <a:headEnd type="none" w="med" len="med"/>
              <a:tailEnd type="none" w="med" len="med"/>
            </a:ln>
          </p:spPr>
          <p:txBody>
            <a:bodyPr vert="horz" wrap="square" lIns="91440" tIns="45720" rIns="91440" bIns="45720" anchor="ctr">
              <a:prstTxWarp prst="textNoShape">
                <a:avLst/>
              </a:prstTxWarp>
              <a:noAutofit/>
            </a:bodyPr>
            <a:lstStyle/>
            <a:p>
              <a:pPr algn="ctr">
                <a:lnSpc>
                  <a:spcPct val="115000"/>
                </a:lnSpc>
                <a:spcAft>
                  <a:spcPts val="1000"/>
                </a:spcAft>
              </a:pPr>
              <a:r>
                <a:rPr lang="en-US" dirty="0">
                  <a:effectLst/>
                  <a:latin typeface="Times New Roman" panose="02020603050405020304" pitchFamily="18" charset="0"/>
                  <a:ea typeface="SimSun" panose="02010600030101010101" pitchFamily="2" charset="-122"/>
                  <a:cs typeface="Times New Roman" panose="02020603050405020304" pitchFamily="18" charset="0"/>
                </a:rPr>
                <a:t>Improved farmers well-being</a:t>
              </a:r>
              <a:endParaRPr lang="en-US"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9" name="Right Arrow 8"/>
            <p:cNvSpPr/>
            <p:nvPr/>
          </p:nvSpPr>
          <p:spPr>
            <a:xfrm>
              <a:off x="1903758" y="1295400"/>
              <a:ext cx="323850" cy="152400"/>
            </a:xfrm>
            <a:prstGeom prst="rightArrow">
              <a:avLst/>
            </a:prstGeom>
            <a:solidFill>
              <a:srgbClr val="000000"/>
            </a:solidFill>
            <a:ln w="25400" cap="flat" cmpd="sng">
              <a:solidFill>
                <a:srgbClr val="000000"/>
              </a:solidFill>
              <a:prstDash val="solid"/>
              <a:round/>
              <a:headEnd type="none" w="med" len="med"/>
              <a:tailEnd type="none" w="med" len="med"/>
            </a:ln>
          </p:spPr>
          <p:txBody>
            <a:bodyPr>
              <a:prstTxWarp prst="textNoShape">
                <a:avLst/>
              </a:prstTxWarp>
            </a:bodyPr>
            <a:lstStyle/>
            <a:p>
              <a:endParaRPr lang="en-US"/>
            </a:p>
          </p:txBody>
        </p:sp>
        <p:sp>
          <p:nvSpPr>
            <p:cNvPr id="10" name="Right Arrow 9"/>
            <p:cNvSpPr/>
            <p:nvPr/>
          </p:nvSpPr>
          <p:spPr>
            <a:xfrm>
              <a:off x="3419061" y="1256306"/>
              <a:ext cx="314325" cy="190500"/>
            </a:xfrm>
            <a:prstGeom prst="rightArrow">
              <a:avLst/>
            </a:prstGeom>
            <a:solidFill>
              <a:srgbClr val="000000"/>
            </a:solidFill>
            <a:ln w="25400" cap="flat" cmpd="sng">
              <a:solidFill>
                <a:srgbClr val="000000"/>
              </a:solidFill>
              <a:prstDash val="solid"/>
              <a:round/>
              <a:headEnd type="none" w="med" len="med"/>
              <a:tailEnd type="none" w="med" len="med"/>
            </a:ln>
          </p:spPr>
          <p:txBody>
            <a:bodyPr>
              <a:prstTxWarp prst="textNoShape">
                <a:avLst/>
              </a:prstTxWarp>
            </a:bodyPr>
            <a:lstStyle/>
            <a:p>
              <a:endParaRPr lang="en-US"/>
            </a:p>
          </p:txBody>
        </p:sp>
        <p:sp>
          <p:nvSpPr>
            <p:cNvPr id="11" name="Down Arrow 10"/>
            <p:cNvSpPr/>
            <p:nvPr/>
          </p:nvSpPr>
          <p:spPr>
            <a:xfrm>
              <a:off x="739472" y="548640"/>
              <a:ext cx="219075" cy="228600"/>
            </a:xfrm>
            <a:prstGeom prst="downArrow">
              <a:avLst/>
            </a:prstGeom>
            <a:solidFill>
              <a:srgbClr val="000000"/>
            </a:solidFill>
            <a:ln w="25400" cap="flat" cmpd="sng">
              <a:solidFill>
                <a:srgbClr val="000000"/>
              </a:solidFill>
              <a:prstDash val="solid"/>
              <a:round/>
              <a:headEnd type="none" w="med" len="med"/>
              <a:tailEnd type="none" w="med" len="med"/>
            </a:ln>
          </p:spPr>
          <p:txBody>
            <a:bodyPr>
              <a:prstTxWarp prst="textNoShape">
                <a:avLst/>
              </a:prstTxWarp>
            </a:bodyPr>
            <a:lstStyle/>
            <a:p>
              <a:endParaRPr lang="en-US"/>
            </a:p>
          </p:txBody>
        </p:sp>
        <p:sp>
          <p:nvSpPr>
            <p:cNvPr id="12" name="Down Arrow 11"/>
            <p:cNvSpPr/>
            <p:nvPr/>
          </p:nvSpPr>
          <p:spPr>
            <a:xfrm>
              <a:off x="4444780" y="548640"/>
              <a:ext cx="219075" cy="228600"/>
            </a:xfrm>
            <a:prstGeom prst="downArrow">
              <a:avLst/>
            </a:prstGeom>
            <a:solidFill>
              <a:srgbClr val="000000"/>
            </a:solidFill>
            <a:ln w="25400" cap="flat" cmpd="sng">
              <a:solidFill>
                <a:srgbClr val="000000"/>
              </a:solidFill>
              <a:prstDash val="solid"/>
              <a:round/>
              <a:headEnd type="none" w="med" len="med"/>
              <a:tailEnd type="none" w="med" len="med"/>
            </a:ln>
          </p:spPr>
          <p:txBody>
            <a:bodyPr>
              <a:prstTxWarp prst="textNoShape">
                <a:avLst/>
              </a:prstTxWarp>
            </a:bodyPr>
            <a:lstStyle/>
            <a:p>
              <a:endParaRPr lang="en-US"/>
            </a:p>
          </p:txBody>
        </p:sp>
        <p:sp>
          <p:nvSpPr>
            <p:cNvPr id="13" name="Down Arrow 12"/>
            <p:cNvSpPr/>
            <p:nvPr/>
          </p:nvSpPr>
          <p:spPr>
            <a:xfrm>
              <a:off x="2687541" y="548640"/>
              <a:ext cx="219075" cy="228600"/>
            </a:xfrm>
            <a:prstGeom prst="downArrow">
              <a:avLst/>
            </a:prstGeom>
            <a:solidFill>
              <a:srgbClr val="000000"/>
            </a:solidFill>
            <a:ln w="25400" cap="flat" cmpd="sng">
              <a:solidFill>
                <a:srgbClr val="000000"/>
              </a:solidFill>
              <a:prstDash val="solid"/>
              <a:round/>
              <a:headEnd type="none" w="med" len="med"/>
              <a:tailEnd type="none" w="med" len="med"/>
            </a:ln>
          </p:spPr>
          <p:txBody>
            <a:bodyPr>
              <a:prstTxWarp prst="textNoShape">
                <a:avLst/>
              </a:prstTxWarp>
            </a:bodyPr>
            <a:lstStyle/>
            <a:p>
              <a:endParaRPr lang="en-US"/>
            </a:p>
          </p:txBody>
        </p:sp>
      </p:grpSp>
      <p:sp>
        <p:nvSpPr>
          <p:cNvPr id="17" name="Right Arrow 16"/>
          <p:cNvSpPr/>
          <p:nvPr/>
        </p:nvSpPr>
        <p:spPr>
          <a:xfrm>
            <a:off x="3799869" y="1049970"/>
            <a:ext cx="397042" cy="3248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ight Arrow 17"/>
          <p:cNvSpPr/>
          <p:nvPr/>
        </p:nvSpPr>
        <p:spPr>
          <a:xfrm>
            <a:off x="7481596" y="1077166"/>
            <a:ext cx="397042" cy="3248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18"/>
          <p:cNvSpPr/>
          <p:nvPr/>
        </p:nvSpPr>
        <p:spPr>
          <a:xfrm>
            <a:off x="4196911" y="-146114"/>
            <a:ext cx="3398687" cy="718017"/>
          </a:xfrm>
          <a:prstGeom prst="rect">
            <a:avLst/>
          </a:prstGeom>
        </p:spPr>
        <p:txBody>
          <a:bodyPr wrap="none">
            <a:spAutoFit/>
          </a:bodyPr>
          <a:lstStyle/>
          <a:p>
            <a:pPr>
              <a:lnSpc>
                <a:spcPct val="200000"/>
              </a:lnSpc>
              <a:spcBef>
                <a:spcPts val="1000"/>
              </a:spcBef>
              <a:spcAft>
                <a:spcPts val="0"/>
              </a:spcAft>
              <a:tabLst>
                <a:tab pos="342900" algn="l"/>
              </a:tabLst>
            </a:pPr>
            <a:r>
              <a:rPr lang="en-US" sz="2400" b="1" dirty="0" smtClean="0">
                <a:effectLst/>
                <a:latin typeface="Times New Roman" panose="02020603050405020304" pitchFamily="18" charset="0"/>
                <a:cs typeface="SimSun" panose="02010600030101010101" pitchFamily="2" charset="-122"/>
              </a:rPr>
              <a:t>Conceptual Framework </a:t>
            </a:r>
            <a:endParaRPr lang="en-US" sz="2800" b="1" dirty="0">
              <a:effectLst/>
              <a:latin typeface="Cambria" panose="02040503050406030204" pitchFamily="18" charset="0"/>
              <a:cs typeface="SimSun" panose="02010600030101010101" pitchFamily="2" charset="-122"/>
            </a:endParaRPr>
          </a:p>
        </p:txBody>
      </p:sp>
    </p:spTree>
    <p:extLst>
      <p:ext uri="{BB962C8B-B14F-4D97-AF65-F5344CB8AC3E}">
        <p14:creationId xmlns:p14="http://schemas.microsoft.com/office/powerpoint/2010/main" val="1070345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6453" y="0"/>
            <a:ext cx="7952873" cy="718017"/>
          </a:xfrm>
          <a:prstGeom prst="rect">
            <a:avLst/>
          </a:prstGeom>
        </p:spPr>
        <p:txBody>
          <a:bodyPr wrap="square">
            <a:spAutoFit/>
          </a:bodyPr>
          <a:lstStyle/>
          <a:p>
            <a:pPr algn="ctr">
              <a:lnSpc>
                <a:spcPct val="200000"/>
              </a:lnSpc>
              <a:spcBef>
                <a:spcPts val="1200"/>
              </a:spcBef>
              <a:spcAft>
                <a:spcPts val="0"/>
              </a:spcAft>
            </a:pPr>
            <a:r>
              <a:rPr lang="en-US" sz="2400" b="1" kern="0" dirty="0" smtClean="0">
                <a:effectLst/>
                <a:latin typeface="Times New Roman" panose="02020603050405020304" pitchFamily="18" charset="0"/>
                <a:cs typeface="SimSun" panose="02010600030101010101" pitchFamily="2" charset="-122"/>
              </a:rPr>
              <a:t>RESEARCH</a:t>
            </a:r>
            <a:r>
              <a:rPr lang="en-US" sz="2400" b="1" kern="0" spc="-65" dirty="0" smtClean="0">
                <a:effectLst/>
                <a:latin typeface="Times New Roman" panose="02020603050405020304" pitchFamily="18" charset="0"/>
                <a:cs typeface="SimSun" panose="02010600030101010101" pitchFamily="2" charset="-122"/>
              </a:rPr>
              <a:t> </a:t>
            </a:r>
            <a:r>
              <a:rPr lang="en-US" sz="2400" b="1" kern="0" dirty="0" smtClean="0">
                <a:effectLst/>
                <a:latin typeface="Times New Roman" panose="02020603050405020304" pitchFamily="18" charset="0"/>
                <a:cs typeface="SimSun" panose="02010600030101010101" pitchFamily="2" charset="-122"/>
              </a:rPr>
              <a:t>METHODOLOGY</a:t>
            </a:r>
            <a:endParaRPr lang="en-US" sz="3200" b="1" kern="0" dirty="0">
              <a:effectLst/>
              <a:latin typeface="Cambria" panose="02040503050406030204" pitchFamily="18" charset="0"/>
              <a:cs typeface="SimSun" panose="02010600030101010101" pitchFamily="2" charset="-122"/>
            </a:endParaRPr>
          </a:p>
        </p:txBody>
      </p:sp>
      <p:sp>
        <p:nvSpPr>
          <p:cNvPr id="3" name="Rectangle 2"/>
          <p:cNvSpPr/>
          <p:nvPr/>
        </p:nvSpPr>
        <p:spPr>
          <a:xfrm>
            <a:off x="108284" y="429771"/>
            <a:ext cx="11594432" cy="3175228"/>
          </a:xfrm>
          <a:prstGeom prst="rect">
            <a:avLst/>
          </a:prstGeom>
        </p:spPr>
        <p:txBody>
          <a:bodyPr wrap="square">
            <a:spAutoFit/>
          </a:bodyPr>
          <a:lstStyle/>
          <a:p>
            <a:pPr algn="just">
              <a:lnSpc>
                <a:spcPct val="200000"/>
              </a:lnSpc>
              <a:spcAft>
                <a:spcPts val="1000"/>
              </a:spcAft>
            </a:pPr>
            <a:r>
              <a:rPr lang="en-US" sz="2400" b="1" dirty="0" smtClean="0">
                <a:effectLst/>
                <a:latin typeface="Times New Roman" panose="02020603050405020304" pitchFamily="18" charset="0"/>
                <a:ea typeface="SimSun" panose="02010600030101010101" pitchFamily="2" charset="-122"/>
                <a:cs typeface="Times New Roman" panose="02020603050405020304" pitchFamily="18" charset="0"/>
              </a:rPr>
              <a:t>Study Area</a:t>
            </a:r>
            <a:endParaRPr lang="en-US" sz="2000" b="1"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200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Selection </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of this ward as the study area based on the fact that it has favorable environmental conditions for kernel oil production and there are largest number of farmers that engage in  palm kernel oil production .</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4" name="Rectangle 3"/>
          <p:cNvSpPr/>
          <p:nvPr/>
        </p:nvSpPr>
        <p:spPr>
          <a:xfrm>
            <a:off x="108284" y="3604999"/>
            <a:ext cx="11594432" cy="1569660"/>
          </a:xfrm>
          <a:prstGeom prst="rect">
            <a:avLst/>
          </a:prstGeom>
        </p:spPr>
        <p:txBody>
          <a:bodyPr wrap="square">
            <a:spAutoFit/>
          </a:bodyPr>
          <a:lstStyle/>
          <a:p>
            <a:pPr>
              <a:lnSpc>
                <a:spcPct val="200000"/>
              </a:lnSpc>
              <a:spcBef>
                <a:spcPts val="1000"/>
              </a:spcBef>
              <a:spcAft>
                <a:spcPts val="0"/>
              </a:spcAft>
              <a:tabLst>
                <a:tab pos="342900" algn="l"/>
              </a:tabLst>
            </a:pPr>
            <a:r>
              <a:rPr lang="en-US" sz="2400" b="1" dirty="0" smtClean="0">
                <a:effectLst/>
                <a:latin typeface="Times New Roman" panose="02020603050405020304" pitchFamily="18" charset="0"/>
                <a:cs typeface="SimSun" panose="02010600030101010101" pitchFamily="2" charset="-122"/>
              </a:rPr>
              <a:t>Research Design</a:t>
            </a:r>
            <a:endParaRPr lang="en-US" sz="2800" b="1" dirty="0" smtClean="0">
              <a:effectLst/>
              <a:latin typeface="Cambria" panose="02040503050406030204" pitchFamily="18" charset="0"/>
              <a:cs typeface="SimSun" panose="02010600030101010101" pitchFamily="2" charset="-122"/>
            </a:endParaRPr>
          </a:p>
          <a:p>
            <a:pPr algn="just">
              <a:lnSpc>
                <a:spcPct val="200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In this study, a cross sectional research design were </a:t>
            </a: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used.</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32175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92515047"/>
              </p:ext>
            </p:extLst>
          </p:nvPr>
        </p:nvGraphicFramePr>
        <p:xfrm>
          <a:off x="240631" y="589549"/>
          <a:ext cx="11718759" cy="5799111"/>
        </p:xfrm>
        <a:graphic>
          <a:graphicData uri="http://schemas.openxmlformats.org/drawingml/2006/table">
            <a:tbl>
              <a:tblPr firstRow="1" bandRow="1">
                <a:tableStyleId>{2D5ABB26-0587-4C30-8999-92F81FD0307C}</a:tableStyleId>
              </a:tblPr>
              <a:tblGrid>
                <a:gridCol w="3906253"/>
                <a:gridCol w="3906253"/>
                <a:gridCol w="3906253"/>
              </a:tblGrid>
              <a:tr h="951329">
                <a:tc>
                  <a:txBody>
                    <a:bodyPr/>
                    <a:lstStyle/>
                    <a:p>
                      <a:r>
                        <a:rPr lang="en-US" sz="2800" b="1" dirty="0" smtClean="0">
                          <a:latin typeface="Times New Roman" panose="02020603050405020304" pitchFamily="18" charset="0"/>
                          <a:cs typeface="Times New Roman" panose="02020603050405020304" pitchFamily="18" charset="0"/>
                        </a:rPr>
                        <a:t>Data type and sources</a:t>
                      </a:r>
                      <a:endParaRPr lang="en-US" sz="2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smtClean="0">
                          <a:latin typeface="Times New Roman" panose="02020603050405020304" pitchFamily="18" charset="0"/>
                          <a:cs typeface="Times New Roman" panose="02020603050405020304" pitchFamily="18" charset="0"/>
                        </a:rPr>
                        <a:t>Data collection methods</a:t>
                      </a:r>
                      <a:endParaRPr lang="en-US" sz="2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smtClean="0">
                          <a:latin typeface="Times New Roman" panose="02020603050405020304" pitchFamily="18" charset="0"/>
                          <a:cs typeface="Times New Roman" panose="02020603050405020304" pitchFamily="18" charset="0"/>
                        </a:rPr>
                        <a:t>Tools</a:t>
                      </a:r>
                      <a:endParaRPr lang="en-US" sz="2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42019">
                <a:tc>
                  <a:txBody>
                    <a:bodyPr/>
                    <a:lstStyle/>
                    <a:p>
                      <a:r>
                        <a:rPr lang="en-US" sz="2800" b="0" dirty="0" smtClean="0">
                          <a:latin typeface="Times New Roman" panose="02020603050405020304" pitchFamily="18" charset="0"/>
                          <a:cs typeface="Times New Roman" panose="02020603050405020304" pitchFamily="18" charset="0"/>
                        </a:rPr>
                        <a:t>Primary (sources: </a:t>
                      </a:r>
                      <a:r>
                        <a:rPr lang="en-US" sz="2800" b="0" dirty="0" smtClean="0">
                          <a:latin typeface="Times New Roman" panose="02020603050405020304" pitchFamily="18" charset="0"/>
                          <a:cs typeface="Times New Roman" panose="02020603050405020304" pitchFamily="18" charset="0"/>
                        </a:rPr>
                        <a:t>individual palm</a:t>
                      </a:r>
                      <a:r>
                        <a:rPr lang="en-US" sz="2800" b="0" baseline="0" dirty="0" smtClean="0">
                          <a:latin typeface="Times New Roman" panose="02020603050405020304" pitchFamily="18" charset="0"/>
                          <a:cs typeface="Times New Roman" panose="02020603050405020304" pitchFamily="18" charset="0"/>
                        </a:rPr>
                        <a:t> kernel oil </a:t>
                      </a:r>
                      <a:r>
                        <a:rPr lang="en-US" sz="2800" b="0" dirty="0" smtClean="0">
                          <a:latin typeface="Times New Roman" panose="02020603050405020304" pitchFamily="18" charset="0"/>
                          <a:cs typeface="Times New Roman" panose="02020603050405020304" pitchFamily="18" charset="0"/>
                        </a:rPr>
                        <a:t>farmer)</a:t>
                      </a:r>
                    </a:p>
                    <a:p>
                      <a:endParaRPr lang="en-US" sz="2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smtClean="0">
                          <a:effectLst/>
                          <a:latin typeface="Times New Roman" panose="02020603050405020304" pitchFamily="18" charset="0"/>
                          <a:cs typeface="Times New Roman" panose="02020603050405020304" pitchFamily="18" charset="0"/>
                        </a:rPr>
                        <a:t>Interview</a:t>
                      </a:r>
                    </a:p>
                    <a:p>
                      <a:endParaRPr lang="en-US" sz="2800" kern="1200" dirty="0" smtClean="0">
                        <a:effectLst/>
                        <a:latin typeface="Times New Roman" panose="02020603050405020304" pitchFamily="18" charset="0"/>
                        <a:cs typeface="Times New Roman" panose="02020603050405020304" pitchFamily="18" charset="0"/>
                      </a:endParaRPr>
                    </a:p>
                    <a:p>
                      <a:r>
                        <a:rPr lang="en-US" sz="2800" kern="1200" dirty="0" smtClean="0">
                          <a:effectLst/>
                          <a:latin typeface="Times New Roman" panose="02020603050405020304" pitchFamily="18" charset="0"/>
                          <a:cs typeface="Times New Roman" panose="02020603050405020304" pitchFamily="18" charset="0"/>
                        </a:rPr>
                        <a:t>observation</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smtClean="0">
                          <a:effectLst/>
                          <a:latin typeface="Times New Roman" panose="02020603050405020304" pitchFamily="18" charset="0"/>
                          <a:cs typeface="Times New Roman" panose="02020603050405020304" pitchFamily="18" charset="0"/>
                        </a:rPr>
                        <a:t>Questionnaire</a:t>
                      </a:r>
                    </a:p>
                    <a:p>
                      <a:endParaRPr lang="en-US" sz="2800" kern="1200" dirty="0" smtClean="0">
                        <a:effectLst/>
                        <a:latin typeface="Times New Roman" panose="02020603050405020304" pitchFamily="18" charset="0"/>
                        <a:cs typeface="Times New Roman" panose="02020603050405020304" pitchFamily="18" charset="0"/>
                      </a:endParaRPr>
                    </a:p>
                    <a:p>
                      <a:r>
                        <a:rPr lang="en-US" sz="2800" kern="1200" dirty="0" smtClean="0">
                          <a:effectLst/>
                          <a:latin typeface="Times New Roman" panose="02020603050405020304" pitchFamily="18" charset="0"/>
                          <a:cs typeface="Times New Roman" panose="02020603050405020304" pitchFamily="18" charset="0"/>
                        </a:rPr>
                        <a:t>checklist</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49462">
                <a:tc>
                  <a:txBody>
                    <a:bodyPr/>
                    <a:lstStyle/>
                    <a:p>
                      <a:r>
                        <a:rPr lang="en-US" sz="2800" b="0" dirty="0" smtClean="0">
                          <a:latin typeface="Times New Roman" panose="02020603050405020304" pitchFamily="18" charset="0"/>
                          <a:cs typeface="Times New Roman" panose="02020603050405020304" pitchFamily="18" charset="0"/>
                        </a:rPr>
                        <a:t>Secondary (sources: </a:t>
                      </a:r>
                      <a:r>
                        <a:rPr lang="en-US" sz="2800" b="0" kern="1200" dirty="0" smtClean="0">
                          <a:effectLst/>
                          <a:latin typeface="Times New Roman" panose="02020603050405020304" pitchFamily="18" charset="0"/>
                          <a:cs typeface="Times New Roman" panose="02020603050405020304" pitchFamily="18" charset="0"/>
                        </a:rPr>
                        <a:t>documents from the ward, articles, text books, journal and website</a:t>
                      </a:r>
                      <a:endParaRPr lang="en-US" sz="2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smtClean="0">
                          <a:latin typeface="Times New Roman" panose="02020603050405020304" pitchFamily="18" charset="0"/>
                          <a:cs typeface="Times New Roman" panose="02020603050405020304" pitchFamily="18" charset="0"/>
                        </a:rPr>
                        <a:t>Documental</a:t>
                      </a:r>
                      <a:r>
                        <a:rPr lang="en-US" sz="2800" baseline="0" dirty="0" smtClean="0">
                          <a:latin typeface="Times New Roman" panose="02020603050405020304" pitchFamily="18" charset="0"/>
                          <a:cs typeface="Times New Roman" panose="02020603050405020304" pitchFamily="18" charset="0"/>
                        </a:rPr>
                        <a:t> review</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smtClean="0">
                          <a:latin typeface="Times New Roman" panose="02020603050405020304" pitchFamily="18" charset="0"/>
                          <a:cs typeface="Times New Roman" panose="02020603050405020304" pitchFamily="18" charset="0"/>
                        </a:rPr>
                        <a:t>checklist</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33205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410" y="180474"/>
            <a:ext cx="11462084" cy="6160661"/>
          </a:xfrm>
          <a:prstGeom prst="rect">
            <a:avLst/>
          </a:prstGeom>
        </p:spPr>
        <p:txBody>
          <a:bodyPr wrap="square">
            <a:spAutoFit/>
          </a:bodyPr>
          <a:lstStyle/>
          <a:p>
            <a:pPr algn="ctr">
              <a:spcBef>
                <a:spcPts val="1000"/>
              </a:spcBef>
              <a:spcAft>
                <a:spcPts val="0"/>
              </a:spcAft>
              <a:tabLst>
                <a:tab pos="342900" algn="l"/>
              </a:tabLst>
            </a:pPr>
            <a:r>
              <a:rPr lang="en-US" sz="2100" b="1" dirty="0" smtClean="0">
                <a:effectLst/>
                <a:latin typeface="Times New Roman" panose="02020603050405020304" pitchFamily="18" charset="0"/>
                <a:cs typeface="SimSun" panose="02010600030101010101" pitchFamily="2" charset="-122"/>
              </a:rPr>
              <a:t>SAMPLING </a:t>
            </a:r>
            <a:endParaRPr lang="en-US" sz="2100" b="1" dirty="0" smtClean="0">
              <a:effectLst/>
              <a:latin typeface="Cambria" panose="02040503050406030204" pitchFamily="18" charset="0"/>
              <a:cs typeface="SimSun" panose="02010600030101010101" pitchFamily="2" charset="-122"/>
            </a:endParaRPr>
          </a:p>
          <a:p>
            <a:pPr>
              <a:spcBef>
                <a:spcPts val="1000"/>
              </a:spcBef>
              <a:spcAft>
                <a:spcPts val="0"/>
              </a:spcAft>
              <a:tabLst>
                <a:tab pos="342900" algn="l"/>
              </a:tabLst>
            </a:pPr>
            <a:r>
              <a:rPr lang="en-US" sz="2100" b="1" dirty="0" smtClean="0">
                <a:effectLst/>
                <a:latin typeface="Times New Roman" panose="02020603050405020304" pitchFamily="18" charset="0"/>
                <a:cs typeface="SimSun" panose="02010600030101010101" pitchFamily="2" charset="-122"/>
              </a:rPr>
              <a:t>Sampling</a:t>
            </a:r>
            <a:r>
              <a:rPr lang="en-US" sz="2100" b="1" spc="-50" dirty="0" smtClean="0">
                <a:effectLst/>
                <a:latin typeface="Times New Roman" panose="02020603050405020304" pitchFamily="18" charset="0"/>
                <a:cs typeface="SimSun" panose="02010600030101010101" pitchFamily="2" charset="-122"/>
              </a:rPr>
              <a:t> </a:t>
            </a:r>
            <a:r>
              <a:rPr lang="en-US" sz="2100" b="1" spc="-10" dirty="0" smtClean="0">
                <a:effectLst/>
                <a:latin typeface="Times New Roman" panose="02020603050405020304" pitchFamily="18" charset="0"/>
                <a:cs typeface="SimSun" panose="02010600030101010101" pitchFamily="2" charset="-122"/>
              </a:rPr>
              <a:t>frame</a:t>
            </a:r>
            <a:endParaRPr lang="en-US" sz="2100" b="1" dirty="0" smtClean="0">
              <a:effectLst/>
              <a:latin typeface="Cambria" panose="02040503050406030204" pitchFamily="18" charset="0"/>
              <a:cs typeface="SimSun" panose="02010600030101010101" pitchFamily="2" charset="-122"/>
            </a:endParaRPr>
          </a:p>
          <a:p>
            <a:pPr algn="just">
              <a:spcAft>
                <a:spcPts val="1000"/>
              </a:spcAft>
            </a:pP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Involved </a:t>
            </a: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a list of farmers engaged in palm kernel oil production and key informants (Ward Executive Officer and Ward Agricultural Extension Officer )</a:t>
            </a:r>
            <a:endParaRPr lang="en-US" sz="2100" dirty="0" smtClean="0">
              <a:effectLst/>
              <a:latin typeface="Calibri" panose="020F0502020204030204" pitchFamily="34" charset="0"/>
              <a:ea typeface="SimSun" panose="02010600030101010101" pitchFamily="2" charset="-122"/>
              <a:cs typeface="Times New Roman" panose="02020603050405020304" pitchFamily="18" charset="0"/>
            </a:endParaRPr>
          </a:p>
          <a:p>
            <a:pPr>
              <a:spcBef>
                <a:spcPts val="1000"/>
              </a:spcBef>
              <a:spcAft>
                <a:spcPts val="0"/>
              </a:spcAft>
              <a:tabLst>
                <a:tab pos="342900" algn="l"/>
              </a:tabLst>
            </a:pPr>
            <a:r>
              <a:rPr lang="en-US" sz="2100" b="1" dirty="0" smtClean="0">
                <a:effectLst/>
                <a:latin typeface="Times New Roman" panose="02020603050405020304" pitchFamily="18" charset="0"/>
                <a:cs typeface="SimSun" panose="02010600030101010101" pitchFamily="2" charset="-122"/>
              </a:rPr>
              <a:t>Sample unit</a:t>
            </a:r>
            <a:endParaRPr lang="en-US" sz="2100" b="1" dirty="0" smtClean="0">
              <a:effectLst/>
              <a:latin typeface="Cambria" panose="02040503050406030204" pitchFamily="18" charset="0"/>
              <a:cs typeface="SimSun" panose="02010600030101010101" pitchFamily="2" charset="-122"/>
            </a:endParaRPr>
          </a:p>
          <a:p>
            <a:pPr algn="just">
              <a:spcAft>
                <a:spcPts val="1000"/>
              </a:spcAft>
            </a:pP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Was </a:t>
            </a: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an individual farmer engaging in palm kernel oil production activities.</a:t>
            </a:r>
            <a:endParaRPr lang="en-US" sz="2100" dirty="0" smtClean="0">
              <a:effectLst/>
              <a:latin typeface="Calibri" panose="020F0502020204030204" pitchFamily="34" charset="0"/>
              <a:ea typeface="SimSun" panose="02010600030101010101" pitchFamily="2" charset="-122"/>
              <a:cs typeface="Times New Roman" panose="02020603050405020304" pitchFamily="18" charset="0"/>
            </a:endParaRPr>
          </a:p>
          <a:p>
            <a:pPr>
              <a:spcBef>
                <a:spcPts val="1000"/>
              </a:spcBef>
              <a:spcAft>
                <a:spcPts val="0"/>
              </a:spcAft>
              <a:tabLst>
                <a:tab pos="342900" algn="l"/>
              </a:tabLst>
            </a:pPr>
            <a:r>
              <a:rPr lang="en-US" sz="2100" b="1" dirty="0" smtClean="0">
                <a:effectLst/>
                <a:latin typeface="Times New Roman" panose="02020603050405020304" pitchFamily="18" charset="0"/>
                <a:cs typeface="SimSun" panose="02010600030101010101" pitchFamily="2" charset="-122"/>
              </a:rPr>
              <a:t>Sample size</a:t>
            </a:r>
            <a:endParaRPr lang="en-US" sz="2100" b="1" dirty="0" smtClean="0">
              <a:effectLst/>
              <a:latin typeface="Cambria" panose="02040503050406030204" pitchFamily="18" charset="0"/>
              <a:cs typeface="SimSun" panose="02010600030101010101" pitchFamily="2" charset="-122"/>
            </a:endParaRPr>
          </a:p>
          <a:p>
            <a:pPr algn="just">
              <a:spcAft>
                <a:spcPts val="1000"/>
              </a:spcAft>
            </a:pP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Computed </a:t>
            </a: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by using unknown formula derived </a:t>
            </a:r>
            <a:r>
              <a:rPr lang="en-GB" sz="2100" dirty="0" smtClean="0">
                <a:effectLst/>
                <a:latin typeface="Times New Roman" panose="02020603050405020304" pitchFamily="18" charset="0"/>
                <a:ea typeface="SimSun" panose="02010600030101010101" pitchFamily="2" charset="-122"/>
                <a:cs typeface="Times New Roman" panose="02020603050405020304" pitchFamily="18" charset="0"/>
              </a:rPr>
              <a:t> by </a:t>
            </a: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Cochran </a:t>
            </a:r>
            <a:r>
              <a:rPr lang="en-GB" sz="2100" dirty="0" smtClean="0">
                <a:effectLst/>
                <a:latin typeface="Times New Roman" panose="02020603050405020304" pitchFamily="18" charset="0"/>
                <a:ea typeface="SimSun" panose="02010600030101010101" pitchFamily="2" charset="-122"/>
                <a:cs typeface="Times New Roman" panose="02020603050405020304" pitchFamily="18" charset="0"/>
              </a:rPr>
              <a:t>(</a:t>
            </a: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1963</a:t>
            </a:r>
            <a:r>
              <a:rPr lang="en-GB" sz="2100" dirty="0" smtClean="0">
                <a:effectLst/>
                <a:latin typeface="Times New Roman" panose="02020603050405020304" pitchFamily="18" charset="0"/>
                <a:ea typeface="SimSun" panose="02010600030101010101" pitchFamily="2" charset="-122"/>
                <a:cs typeface="Times New Roman" panose="02020603050405020304" pitchFamily="18" charset="0"/>
              </a:rPr>
              <a:t>);              </a:t>
            </a:r>
            <a:endParaRPr lang="en-US" sz="2100" dirty="0"/>
          </a:p>
          <a:p>
            <a:r>
              <a:rPr lang="en-US" sz="2100" dirty="0"/>
              <a:t>    n</a:t>
            </a:r>
            <a:r>
              <a:rPr lang="en-US" sz="2100" u="sng" dirty="0"/>
              <a:t>=((Zα</a:t>
            </a:r>
            <a:r>
              <a:rPr lang="en-US" sz="2100" u="sng" baseline="30000" dirty="0"/>
              <a:t>2</a:t>
            </a:r>
            <a:r>
              <a:rPr lang="en-US" sz="2100" u="sng" dirty="0"/>
              <a:t>) P (1-P))</a:t>
            </a:r>
            <a:endParaRPr lang="en-US" sz="2100" dirty="0"/>
          </a:p>
          <a:p>
            <a:r>
              <a:rPr lang="en-US" sz="2100" dirty="0"/>
              <a:t>                e²</a:t>
            </a:r>
          </a:p>
          <a:p>
            <a:r>
              <a:rPr lang="en-US" sz="2100" dirty="0"/>
              <a:t>   n = </a:t>
            </a:r>
            <a:r>
              <a:rPr lang="en-US" sz="2100" u="sng" dirty="0"/>
              <a:t>((1.96) ² 0.5(1-0.5))</a:t>
            </a:r>
            <a:endParaRPr lang="en-US" sz="2100" dirty="0"/>
          </a:p>
          <a:p>
            <a:r>
              <a:rPr lang="en-US" sz="2100" dirty="0"/>
              <a:t>                   0.05²</a:t>
            </a:r>
          </a:p>
          <a:p>
            <a:r>
              <a:rPr lang="en-US" sz="2100" dirty="0"/>
              <a:t>    n = 96 respondents </a:t>
            </a:r>
            <a:endParaRPr lang="en-US" sz="2100" dirty="0" smtClean="0">
              <a:effectLst/>
              <a:latin typeface="Calibri" panose="020F0502020204030204" pitchFamily="34" charset="0"/>
              <a:ea typeface="SimSun" panose="02010600030101010101" pitchFamily="2" charset="-122"/>
              <a:cs typeface="Times New Roman" panose="02020603050405020304" pitchFamily="18" charset="0"/>
            </a:endParaRPr>
          </a:p>
          <a:p>
            <a:pPr>
              <a:spcBef>
                <a:spcPts val="1000"/>
              </a:spcBef>
              <a:spcAft>
                <a:spcPts val="0"/>
              </a:spcAft>
              <a:tabLst>
                <a:tab pos="342900" algn="l"/>
              </a:tabLst>
            </a:pPr>
            <a:r>
              <a:rPr lang="en-US" sz="2100" b="1" dirty="0" smtClean="0">
                <a:effectLst/>
                <a:latin typeface="Times New Roman" panose="02020603050405020304" pitchFamily="18" charset="0"/>
                <a:cs typeface="SimSun" panose="02010600030101010101" pitchFamily="2" charset="-122"/>
              </a:rPr>
              <a:t>Sampling Procedure </a:t>
            </a:r>
            <a:endParaRPr lang="en-US" sz="2100" b="1" dirty="0" smtClean="0">
              <a:effectLst/>
              <a:latin typeface="Cambria" panose="02040503050406030204" pitchFamily="18" charset="0"/>
              <a:cs typeface="SimSun" panose="02010600030101010101" pitchFamily="2" charset="-122"/>
            </a:endParaRPr>
          </a:p>
          <a:p>
            <a:pPr algn="just">
              <a:spcAft>
                <a:spcPts val="1000"/>
              </a:spcAft>
            </a:pPr>
            <a:r>
              <a:rPr lang="en-US" sz="2100" dirty="0" smtClean="0">
                <a:effectLst/>
                <a:latin typeface="Times New Roman" panose="02020603050405020304" pitchFamily="18" charset="0"/>
                <a:ea typeface="SimSun" panose="02010600030101010101" pitchFamily="2" charset="-122"/>
                <a:cs typeface="Times New Roman" panose="02020603050405020304" pitchFamily="18" charset="0"/>
              </a:rPr>
              <a:t>Non -probability sampling techniques were used.  Whereby, under this sampling purposive sampling was employed for sample selection and also to gather key information related to palm kernel oil production.</a:t>
            </a:r>
            <a:endParaRPr lang="en-US" sz="2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03445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1105" y="1150941"/>
            <a:ext cx="11490158" cy="4980851"/>
          </a:xfrm>
          <a:prstGeom prst="rect">
            <a:avLst/>
          </a:prstGeom>
        </p:spPr>
        <p:txBody>
          <a:bodyPr wrap="square">
            <a:spAutoFit/>
          </a:bodyPr>
          <a:lstStyle/>
          <a:p>
            <a:pPr algn="just">
              <a:lnSpc>
                <a:spcPct val="115000"/>
              </a:lnSpc>
              <a:spcAft>
                <a:spcPts val="1000"/>
              </a:spcAft>
            </a:pPr>
            <a:r>
              <a:rPr lang="en-US" sz="2400" b="1" dirty="0" smtClean="0">
                <a:effectLst/>
                <a:latin typeface="Times New Roman" panose="02020603050405020304" pitchFamily="18" charset="0"/>
                <a:ea typeface="SimSun" panose="02010600030101010101" pitchFamily="2" charset="-122"/>
                <a:cs typeface="Times New Roman" panose="02020603050405020304" pitchFamily="18" charset="0"/>
              </a:rPr>
              <a:t>Data processing </a:t>
            </a:r>
            <a:endParaRPr lang="en-US" sz="2000" b="1"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The data collected  through questionnaires were checked to observe their relevancy and acknowledged mistakes were omitted, then the edited data were coded and entered into IBM-SPSS version 20 and Microsoft excel for analysis. </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400" b="1" dirty="0" smtClean="0">
                <a:effectLst/>
                <a:latin typeface="Times New Roman" panose="02020603050405020304" pitchFamily="18" charset="0"/>
                <a:ea typeface="SimSun" panose="02010600030101010101" pitchFamily="2" charset="-122"/>
                <a:cs typeface="Times New Roman" panose="02020603050405020304" pitchFamily="18" charset="0"/>
              </a:rPr>
              <a:t>Data analysis </a:t>
            </a:r>
            <a:endParaRPr lang="en-US" sz="2000" b="1"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In this study, data were analyzed by using descriptive statistical analysis (Multiple response)  as per each specific objective</a:t>
            </a:r>
            <a:endParaRPr lang="en-US" sz="2000"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400" b="1" dirty="0" smtClean="0">
                <a:effectLst/>
                <a:latin typeface="Times New Roman" panose="02020603050405020304" pitchFamily="18" charset="0"/>
                <a:ea typeface="SimSun" panose="02010600030101010101" pitchFamily="2" charset="-122"/>
                <a:cs typeface="Times New Roman" panose="02020603050405020304" pitchFamily="18" charset="0"/>
              </a:rPr>
              <a:t>Data presentation </a:t>
            </a:r>
            <a:endParaRPr lang="en-US" sz="2000" b="1"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400" dirty="0" smtClean="0">
                <a:effectLst/>
                <a:latin typeface="Times New Roman" panose="02020603050405020304" pitchFamily="18" charset="0"/>
                <a:ea typeface="SimSun" panose="02010600030101010101" pitchFamily="2" charset="-122"/>
                <a:cs typeface="Times New Roman" panose="02020603050405020304" pitchFamily="18" charset="0"/>
              </a:rPr>
              <a:t>The analyzed data were presented in form of tables and texts to illustrate the study findings through interpretations and discussions </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3" name="Rectangle 2"/>
          <p:cNvSpPr/>
          <p:nvPr/>
        </p:nvSpPr>
        <p:spPr>
          <a:xfrm>
            <a:off x="2199713" y="200344"/>
            <a:ext cx="7932941" cy="461665"/>
          </a:xfrm>
          <a:prstGeom prst="rect">
            <a:avLst/>
          </a:prstGeom>
        </p:spPr>
        <p:txBody>
          <a:bodyPr wrap="none">
            <a:spAutoFit/>
          </a:bodyPr>
          <a:lstStyle/>
          <a:p>
            <a:r>
              <a:rPr lang="en-US" sz="2400" b="1" dirty="0" smtClean="0">
                <a:effectLst/>
                <a:latin typeface="Times New Roman" panose="02020603050405020304" pitchFamily="18" charset="0"/>
                <a:ea typeface="SimSun" panose="02010600030101010101" pitchFamily="2" charset="-122"/>
              </a:rPr>
              <a:t>DATA PROCESSING, ANALYSIS AND PRESENTATION</a:t>
            </a:r>
            <a:endParaRPr lang="en-US" sz="2400" dirty="0"/>
          </a:p>
        </p:txBody>
      </p:sp>
    </p:spTree>
    <p:extLst>
      <p:ext uri="{BB962C8B-B14F-4D97-AF65-F5344CB8AC3E}">
        <p14:creationId xmlns:p14="http://schemas.microsoft.com/office/powerpoint/2010/main" val="799680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87301" y="-36095"/>
            <a:ext cx="3638304" cy="423834"/>
          </a:xfrm>
          <a:prstGeom prst="rect">
            <a:avLst/>
          </a:prstGeom>
        </p:spPr>
        <p:txBody>
          <a:bodyPr wrap="none">
            <a:spAutoFit/>
          </a:bodyPr>
          <a:lstStyle/>
          <a:p>
            <a:pPr algn="just">
              <a:lnSpc>
                <a:spcPct val="115000"/>
              </a:lnSpc>
              <a:spcAft>
                <a:spcPts val="1000"/>
              </a:spcAft>
            </a:pPr>
            <a:r>
              <a:rPr lang="en-US" sz="2000" b="1" dirty="0" smtClean="0">
                <a:effectLst/>
                <a:latin typeface="Times New Roman" panose="02020603050405020304" pitchFamily="18" charset="0"/>
                <a:ea typeface="SimSun" panose="02010600030101010101" pitchFamily="2" charset="-122"/>
                <a:cs typeface="Times New Roman" panose="02020603050405020304" pitchFamily="18" charset="0"/>
              </a:rPr>
              <a:t>RESULTS AND DISCUSSION </a:t>
            </a:r>
            <a:endParaRPr lang="en-US" sz="2000" b="1" dirty="0" smtClean="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4" name="Rectangle 3"/>
          <p:cNvSpPr/>
          <p:nvPr/>
        </p:nvSpPr>
        <p:spPr>
          <a:xfrm>
            <a:off x="106143" y="284758"/>
            <a:ext cx="5268430" cy="410882"/>
          </a:xfrm>
          <a:prstGeom prst="rect">
            <a:avLst/>
          </a:prstGeom>
        </p:spPr>
        <p:txBody>
          <a:bodyPr wrap="none">
            <a:spAutoFit/>
          </a:bodyPr>
          <a:lstStyle/>
          <a:p>
            <a:pPr algn="just">
              <a:lnSpc>
                <a:spcPct val="115000"/>
              </a:lnSpc>
              <a:spcAft>
                <a:spcPts val="1000"/>
              </a:spcAft>
            </a:pPr>
            <a:r>
              <a:rPr lang="en-US" b="1" dirty="0" smtClean="0">
                <a:effectLst/>
                <a:latin typeface="Times New Roman" panose="02020603050405020304" pitchFamily="18" charset="0"/>
                <a:ea typeface="SimSun" panose="02010600030101010101" pitchFamily="2" charset="-122"/>
                <a:cs typeface="Times New Roman" panose="02020603050405020304" pitchFamily="18" charset="0"/>
              </a:rPr>
              <a:t>Demographic characteristics of </a:t>
            </a:r>
            <a:r>
              <a:rPr lang="en-US" b="1" dirty="0" smtClean="0">
                <a:effectLst/>
                <a:latin typeface="Times New Roman" panose="02020603050405020304" pitchFamily="18" charset="0"/>
                <a:ea typeface="SimSun" panose="02010600030101010101" pitchFamily="2" charset="-122"/>
                <a:cs typeface="Times New Roman" panose="02020603050405020304" pitchFamily="18" charset="0"/>
              </a:rPr>
              <a:t>respondents (n=96) </a:t>
            </a:r>
            <a:endParaRPr lang="en-US" b="1" dirty="0" smtClean="0">
              <a:effectLst/>
              <a:latin typeface="Calibri" panose="020F0502020204030204" pitchFamily="34" charset="0"/>
              <a:ea typeface="SimSun" panose="02010600030101010101" pitchFamily="2" charset="-122"/>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784921970"/>
              </p:ext>
            </p:extLst>
          </p:nvPr>
        </p:nvGraphicFramePr>
        <p:xfrm>
          <a:off x="240632" y="695640"/>
          <a:ext cx="11766883" cy="6030022"/>
        </p:xfrm>
        <a:graphic>
          <a:graphicData uri="http://schemas.openxmlformats.org/drawingml/2006/table">
            <a:tbl>
              <a:tblPr/>
              <a:tblGrid>
                <a:gridCol w="3516327"/>
                <a:gridCol w="4385852"/>
                <a:gridCol w="3864704"/>
              </a:tblGrid>
              <a:tr h="408738">
                <a:tc>
                  <a:txBody>
                    <a:bodyPr/>
                    <a:lstStyle/>
                    <a:p>
                      <a:pPr>
                        <a:lnSpc>
                          <a:spcPct val="115000"/>
                        </a:lnSpc>
                        <a:spcAft>
                          <a:spcPts val="0"/>
                        </a:spcAft>
                      </a:pPr>
                      <a:r>
                        <a:rPr lang="en-US" sz="1400" b="1" dirty="0">
                          <a:effectLst/>
                          <a:latin typeface="Times New Roman" panose="02020603050405020304" pitchFamily="18" charset="0"/>
                          <a:ea typeface="SimSun" panose="02010600030101010101" pitchFamily="2" charset="-122"/>
                          <a:cs typeface="Times New Roman" panose="02020603050405020304" pitchFamily="18" charset="0"/>
                        </a:rPr>
                        <a:t>Categories </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38100" algn="ctr">
                        <a:lnSpc>
                          <a:spcPct val="115000"/>
                        </a:lnSpc>
                        <a:spcAft>
                          <a:spcPts val="0"/>
                        </a:spcAft>
                      </a:pPr>
                      <a:r>
                        <a:rPr lang="en-US" sz="1200" b="1"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200" b="1" dirty="0" smtClean="0">
                          <a:effectLst/>
                          <a:latin typeface="Times New Roman" panose="02020603050405020304" pitchFamily="18" charset="0"/>
                          <a:ea typeface="SimSun" panose="02010600030101010101" pitchFamily="2" charset="-122"/>
                          <a:cs typeface="Times New Roman" panose="02020603050405020304" pitchFamily="18" charset="0"/>
                        </a:rPr>
                        <a:t>                                                          N</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71600" marR="38100" algn="ctr">
                        <a:lnSpc>
                          <a:spcPct val="115000"/>
                        </a:lnSpc>
                        <a:spcAft>
                          <a:spcPts val="0"/>
                        </a:spcAft>
                      </a:pPr>
                      <a:r>
                        <a:rPr lang="en-US" sz="1200" b="1" dirty="0" smtClean="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8738">
                <a:tc>
                  <a:txBody>
                    <a:bodyPr/>
                    <a:lstStyle/>
                    <a:p>
                      <a:pPr>
                        <a:lnSpc>
                          <a:spcPct val="115000"/>
                        </a:lnSpc>
                        <a:spcAft>
                          <a:spcPts val="0"/>
                        </a:spcAft>
                      </a:pPr>
                      <a:r>
                        <a:rPr lang="en-US" sz="1200" b="1">
                          <a:effectLst/>
                          <a:latin typeface="Times New Roman" panose="02020603050405020304" pitchFamily="18" charset="0"/>
                          <a:ea typeface="SimSun" panose="02010600030101010101" pitchFamily="2" charset="-122"/>
                          <a:cs typeface="Times New Roman" panose="02020603050405020304" pitchFamily="18" charset="0"/>
                        </a:rPr>
                        <a:t>Sex of respondent</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Male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59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61.5%</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Female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37</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38.5%</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b="1">
                          <a:effectLst/>
                          <a:latin typeface="Times New Roman" panose="02020603050405020304" pitchFamily="18" charset="0"/>
                          <a:ea typeface="SimSun" panose="02010600030101010101" pitchFamily="2" charset="-122"/>
                          <a:cs typeface="Times New Roman" panose="02020603050405020304" pitchFamily="18" charset="0"/>
                        </a:rPr>
                        <a:t>Age of respondents</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18-23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8</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8.3%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24-29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21</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21.9%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30-35</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46</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47.9%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36+ above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21</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21.9%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b="1">
                          <a:effectLst/>
                          <a:latin typeface="Times New Roman" panose="02020603050405020304" pitchFamily="18" charset="0"/>
                          <a:ea typeface="SimSun" panose="02010600030101010101" pitchFamily="2" charset="-122"/>
                          <a:cs typeface="Times New Roman" panose="02020603050405020304" pitchFamily="18" charset="0"/>
                        </a:rPr>
                        <a:t>Marital status</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Single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14</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14.6%</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Married</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35</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36.5%</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Divorced</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8</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8.3%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Separate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24</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25.0%</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Widowed</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9.4%</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Widower</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6</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6.3%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b="1">
                          <a:effectLst/>
                          <a:latin typeface="Times New Roman" panose="02020603050405020304" pitchFamily="18" charset="0"/>
                          <a:ea typeface="SimSun" panose="02010600030101010101" pitchFamily="2" charset="-122"/>
                          <a:cs typeface="Times New Roman" panose="02020603050405020304" pitchFamily="18" charset="0"/>
                        </a:rPr>
                        <a:t>Education level</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Primary Education</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31</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32.3%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Secondary Education</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50</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52.1%</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Tertiary Education</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15</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15.6%</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b="1">
                          <a:effectLst/>
                          <a:latin typeface="Times New Roman" panose="02020603050405020304" pitchFamily="18" charset="0"/>
                          <a:ea typeface="SimSun" panose="02010600030101010101" pitchFamily="2" charset="-122"/>
                          <a:cs typeface="Times New Roman" panose="02020603050405020304" pitchFamily="18" charset="0"/>
                        </a:rPr>
                        <a:t>Family size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17</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17.7%</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4-6</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55</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57.3%</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215719">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7-9</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16</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16.7%</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466728">
                <a:tc>
                  <a:txBody>
                    <a:bodyPr/>
                    <a:lstStyle/>
                    <a:p>
                      <a:pPr marL="38100" marR="38100">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10- above</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r">
                        <a:lnSpc>
                          <a:spcPct val="115000"/>
                        </a:lnSpc>
                        <a:spcAft>
                          <a:spcPts val="0"/>
                        </a:spcAft>
                      </a:pPr>
                      <a:r>
                        <a:rPr lang="en-US" sz="1200">
                          <a:effectLst/>
                          <a:latin typeface="Times New Roman" panose="02020603050405020304" pitchFamily="18" charset="0"/>
                          <a:ea typeface="SimSun" panose="02010600030101010101" pitchFamily="2" charset="-122"/>
                          <a:cs typeface="Times New Roman" panose="02020603050405020304" pitchFamily="18" charset="0"/>
                        </a:rPr>
                        <a:t>8</a:t>
                      </a:r>
                      <a:endParaRPr lang="en-US" sz="12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r">
                        <a:lnSpc>
                          <a:spcPct val="115000"/>
                        </a:lnSpc>
                        <a:spcAft>
                          <a:spcPts val="0"/>
                        </a:spcAft>
                      </a:pPr>
                      <a:r>
                        <a:rPr lang="en-US" sz="1200" dirty="0">
                          <a:effectLst/>
                          <a:latin typeface="Times New Roman" panose="02020603050405020304" pitchFamily="18" charset="0"/>
                          <a:ea typeface="SimSun" panose="02010600030101010101" pitchFamily="2" charset="-122"/>
                          <a:cs typeface="Times New Roman" panose="02020603050405020304" pitchFamily="18" charset="0"/>
                        </a:rPr>
                        <a:t>8.3%</a:t>
                      </a:r>
                      <a:endParaRPr lang="en-US"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87146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648" y="37816"/>
            <a:ext cx="10696725" cy="1034642"/>
          </a:xfrm>
          <a:prstGeom prst="rect">
            <a:avLst/>
          </a:prstGeom>
        </p:spPr>
        <p:txBody>
          <a:bodyPr wrap="square">
            <a:spAutoFit/>
          </a:bodyPr>
          <a:lstStyle/>
          <a:p>
            <a:pPr algn="just">
              <a:lnSpc>
                <a:spcPct val="115000"/>
              </a:lnSpc>
              <a:spcAft>
                <a:spcPts val="1000"/>
              </a:spcAft>
            </a:pPr>
            <a:r>
              <a:rPr lang="en-US" sz="2300" b="1" dirty="0" smtClean="0">
                <a:effectLst/>
                <a:latin typeface="Times New Roman" panose="02020603050405020304" pitchFamily="18" charset="0"/>
                <a:ea typeface="SimSun" panose="02010600030101010101" pitchFamily="2" charset="-122"/>
                <a:cs typeface="Times New Roman" panose="02020603050405020304" pitchFamily="18" charset="0"/>
              </a:rPr>
              <a:t>Income generated by palm kernel oil production farmers </a:t>
            </a:r>
            <a:endParaRPr lang="en-US" sz="2300" b="1" dirty="0" smtClean="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pPr>
            <a:r>
              <a:rPr lang="en-US" sz="2300" b="1" dirty="0" smtClean="0">
                <a:effectLst/>
                <a:latin typeface="Times New Roman" panose="02020603050405020304" pitchFamily="18" charset="0"/>
                <a:ea typeface="SimSun" panose="02010600030101010101" pitchFamily="2" charset="-122"/>
                <a:cs typeface="Times New Roman" panose="02020603050405020304" pitchFamily="18" charset="0"/>
              </a:rPr>
              <a:t>Income generated from palm kernel </a:t>
            </a:r>
            <a:r>
              <a:rPr lang="en-US" sz="2300" b="1" dirty="0" smtClean="0">
                <a:effectLst/>
                <a:latin typeface="Times New Roman" panose="02020603050405020304" pitchFamily="18" charset="0"/>
                <a:ea typeface="SimSun" panose="02010600030101010101" pitchFamily="2" charset="-122"/>
                <a:cs typeface="Times New Roman" panose="02020603050405020304" pitchFamily="18" charset="0"/>
              </a:rPr>
              <a:t>oil</a:t>
            </a:r>
            <a:endParaRPr lang="en-US" sz="2300" b="1" dirty="0" smtClean="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7" name="Rectangle 6"/>
          <p:cNvSpPr/>
          <p:nvPr/>
        </p:nvSpPr>
        <p:spPr>
          <a:xfrm>
            <a:off x="226648" y="1072458"/>
            <a:ext cx="8674768" cy="646331"/>
          </a:xfrm>
          <a:prstGeom prst="rect">
            <a:avLst/>
          </a:prstGeom>
        </p:spPr>
        <p:txBody>
          <a:bodyPr wrap="square">
            <a:spAutoFit/>
          </a:bodyPr>
          <a:lstStyle/>
          <a:p>
            <a:pPr algn="just">
              <a:lnSpc>
                <a:spcPct val="200000"/>
              </a:lnSpc>
              <a:spcAft>
                <a:spcPts val="1000"/>
              </a:spcAft>
            </a:pPr>
            <a:r>
              <a:rPr lang="en-US" b="1" dirty="0">
                <a:latin typeface="Times New Roman" panose="02020603050405020304" pitchFamily="18" charset="0"/>
                <a:ea typeface="SimSun" panose="02010600030101010101" pitchFamily="2" charset="-122"/>
                <a:cs typeface="Times New Roman" panose="02020603050405020304" pitchFamily="18" charset="0"/>
              </a:rPr>
              <a:t>Table 2: Monthly Income generated from palm kernel oil   (n=96)</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8" name="Rectangle 7"/>
          <p:cNvSpPr/>
          <p:nvPr/>
        </p:nvSpPr>
        <p:spPr>
          <a:xfrm>
            <a:off x="226648" y="5526006"/>
            <a:ext cx="11499914" cy="1131720"/>
          </a:xfrm>
          <a:prstGeom prst="rect">
            <a:avLst/>
          </a:prstGeom>
        </p:spPr>
        <p:txBody>
          <a:bodyPr wrap="square">
            <a:spAutoFit/>
          </a:bodyPr>
          <a:lstStyle/>
          <a:p>
            <a:pPr algn="just">
              <a:lnSpc>
                <a:spcPct val="115000"/>
              </a:lnSpc>
              <a:spcAft>
                <a:spcPts val="1000"/>
              </a:spcAft>
            </a:pPr>
            <a:r>
              <a:rPr lang="en-US" sz="2000" dirty="0">
                <a:latin typeface="Times New Roman" panose="02020603050405020304" pitchFamily="18" charset="0"/>
                <a:ea typeface="SimSun" panose="02010600030101010101" pitchFamily="2" charset="-122"/>
                <a:cs typeface="Times New Roman" panose="02020603050405020304" pitchFamily="18" charset="0"/>
              </a:rPr>
              <a:t>The result shown in table 2 revealed that 28.1% of response earning between </a:t>
            </a:r>
            <a:r>
              <a:rPr lang="en-US" sz="2000" dirty="0" err="1">
                <a:latin typeface="Times New Roman" panose="02020603050405020304" pitchFamily="18" charset="0"/>
                <a:ea typeface="SimSun" panose="02010600030101010101" pitchFamily="2" charset="-122"/>
                <a:cs typeface="Times New Roman" panose="02020603050405020304" pitchFamily="18" charset="0"/>
              </a:rPr>
              <a:t>Tzs</a:t>
            </a:r>
            <a:r>
              <a:rPr lang="en-US" sz="2000" dirty="0">
                <a:latin typeface="Times New Roman" panose="02020603050405020304" pitchFamily="18" charset="0"/>
                <a:ea typeface="SimSun" panose="02010600030101010101" pitchFamily="2" charset="-122"/>
                <a:cs typeface="Times New Roman" panose="02020603050405020304" pitchFamily="18" charset="0"/>
              </a:rPr>
              <a:t>. 100,000-Tzs. 149,000.This is in line with the study by </a:t>
            </a:r>
            <a:r>
              <a:rPr lang="en-US" sz="2000" dirty="0" err="1">
                <a:latin typeface="Times New Roman" panose="02020603050405020304" pitchFamily="18" charset="0"/>
                <a:ea typeface="SimSun" panose="02010600030101010101" pitchFamily="2" charset="-122"/>
                <a:cs typeface="Times New Roman" panose="02020603050405020304" pitchFamily="18" charset="0"/>
              </a:rPr>
              <a:t>Ayompe</a:t>
            </a:r>
            <a:r>
              <a:rPr lang="en-US" sz="2000" dirty="0">
                <a:latin typeface="Times New Roman" panose="02020603050405020304" pitchFamily="18" charset="0"/>
                <a:ea typeface="SimSun" panose="02010600030101010101" pitchFamily="2" charset="-122"/>
                <a:cs typeface="Times New Roman" panose="02020603050405020304" pitchFamily="18" charset="0"/>
              </a:rPr>
              <a:t> L. (2021) shown that most of the smallholders farmers earn moderate income.</a:t>
            </a:r>
            <a:endParaRPr lang="en-US" sz="2000" dirty="0">
              <a:latin typeface="Calibri" panose="020F0502020204030204" pitchFamily="34" charset="0"/>
              <a:ea typeface="SimSun" panose="02010600030101010101" pitchFamily="2" charset="-122"/>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137151287"/>
              </p:ext>
            </p:extLst>
          </p:nvPr>
        </p:nvGraphicFramePr>
        <p:xfrm>
          <a:off x="324750" y="1718789"/>
          <a:ext cx="10944612" cy="3535367"/>
        </p:xfrm>
        <a:graphic>
          <a:graphicData uri="http://schemas.openxmlformats.org/drawingml/2006/table">
            <a:tbl>
              <a:tblPr/>
              <a:tblGrid>
                <a:gridCol w="5780821"/>
                <a:gridCol w="2743850"/>
                <a:gridCol w="2419941"/>
              </a:tblGrid>
              <a:tr h="525498">
                <a:tc>
                  <a:txBody>
                    <a:bodyPr/>
                    <a:lstStyle/>
                    <a:p>
                      <a:pPr>
                        <a:lnSpc>
                          <a:spcPct val="1150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Frequency </a:t>
                      </a:r>
                      <a:endParaRPr lang="en-US" sz="18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8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7727">
                <a:tc>
                  <a:txBody>
                    <a:bodyPr/>
                    <a:lstStyle/>
                    <a:p>
                      <a:pPr marL="38100" marR="38100">
                        <a:lnSpc>
                          <a:spcPts val="1600"/>
                        </a:lnSpc>
                        <a:spcAft>
                          <a:spcPts val="1000"/>
                        </a:spcAft>
                      </a:pP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0 -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49,000</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17</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17.7%</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r>
              <a:tr h="664805">
                <a:tc>
                  <a:txBody>
                    <a:bodyPr/>
                    <a:lstStyle/>
                    <a:p>
                      <a:pPr marL="38100" marR="38100">
                        <a:lnSpc>
                          <a:spcPts val="1600"/>
                        </a:lnSpc>
                        <a:spcAft>
                          <a:spcPts val="1000"/>
                        </a:spcAft>
                      </a:pP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50,000 -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99,000</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14</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14.6%</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664805">
                <a:tc>
                  <a:txBody>
                    <a:bodyPr/>
                    <a:lstStyle/>
                    <a:p>
                      <a:pPr marL="38100" marR="38100">
                        <a:lnSpc>
                          <a:spcPts val="1600"/>
                        </a:lnSpc>
                        <a:spcAft>
                          <a:spcPts val="1000"/>
                        </a:spcAft>
                      </a:pP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100,000 -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149,000</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27</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28.1%</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664805">
                <a:tc>
                  <a:txBody>
                    <a:bodyPr/>
                    <a:lstStyle/>
                    <a:p>
                      <a:pPr marL="38100" marR="38100">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Tzs. 150,000 - Tzs. 199,000</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17</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17.7%</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507727">
                <a:tc>
                  <a:txBody>
                    <a:bodyPr/>
                    <a:lstStyle/>
                    <a:p>
                      <a:pPr marL="38100" marR="38100">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More than Tzs. 200,000</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800">
                          <a:effectLst/>
                          <a:latin typeface="Times New Roman" panose="02020603050405020304" pitchFamily="18" charset="0"/>
                          <a:ea typeface="SimSun" panose="02010600030101010101" pitchFamily="2" charset="-122"/>
                          <a:cs typeface="Times New Roman" panose="02020603050405020304" pitchFamily="18" charset="0"/>
                        </a:rPr>
                        <a:t>21</a:t>
                      </a:r>
                      <a:endParaRPr lang="en-US" sz="18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21.9%</a:t>
                      </a:r>
                      <a:endParaRPr lang="en-US" sz="18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20174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5286" y="0"/>
            <a:ext cx="5812119" cy="620042"/>
          </a:xfrm>
          <a:prstGeom prst="rect">
            <a:avLst/>
          </a:prstGeom>
        </p:spPr>
        <p:txBody>
          <a:bodyPr wrap="square">
            <a:spAutoFit/>
          </a:bodyPr>
          <a:lstStyle/>
          <a:p>
            <a:pPr algn="just">
              <a:lnSpc>
                <a:spcPct val="200000"/>
              </a:lnSpc>
              <a:spcAft>
                <a:spcPts val="1000"/>
              </a:spcAft>
            </a:pPr>
            <a:r>
              <a:rPr lang="en-US" sz="2000" b="1" dirty="0">
                <a:latin typeface="Times New Roman" panose="02020603050405020304" pitchFamily="18" charset="0"/>
                <a:ea typeface="SimSun" panose="02010600030101010101" pitchFamily="2" charset="-122"/>
                <a:cs typeface="Times New Roman" panose="02020603050405020304" pitchFamily="18" charset="0"/>
              </a:rPr>
              <a:t>Income generated from other activities </a:t>
            </a:r>
            <a:endParaRPr lang="en-US" sz="2000" dirty="0">
              <a:latin typeface="Calibri" panose="020F0502020204030204" pitchFamily="34" charset="0"/>
              <a:ea typeface="SimSun" panose="02010600030101010101" pitchFamily="2" charset="-122"/>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351039515"/>
              </p:ext>
            </p:extLst>
          </p:nvPr>
        </p:nvGraphicFramePr>
        <p:xfrm>
          <a:off x="403965" y="1163484"/>
          <a:ext cx="10741831" cy="4063423"/>
        </p:xfrm>
        <a:graphic>
          <a:graphicData uri="http://schemas.openxmlformats.org/drawingml/2006/table">
            <a:tbl>
              <a:tblPr/>
              <a:tblGrid>
                <a:gridCol w="5673113"/>
                <a:gridCol w="2693478"/>
                <a:gridCol w="2375240"/>
              </a:tblGrid>
              <a:tr h="633858">
                <a:tc>
                  <a:txBody>
                    <a:bodyPr/>
                    <a:lstStyle/>
                    <a:p>
                      <a:pPr>
                        <a:lnSpc>
                          <a:spcPct val="115000"/>
                        </a:lnSpc>
                        <a:spcAft>
                          <a:spcPts val="10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Frequency </a:t>
                      </a:r>
                      <a:endParaRPr lang="en-US" sz="16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600" b="1"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1600" b="1"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12422">
                <a:tc>
                  <a:txBody>
                    <a:bodyPr/>
                    <a:lstStyle/>
                    <a:p>
                      <a:pPr marL="38100" marR="38100">
                        <a:lnSpc>
                          <a:spcPts val="1600"/>
                        </a:lnSpc>
                        <a:spcAft>
                          <a:spcPts val="1000"/>
                        </a:spcAft>
                      </a:pP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0 - </a:t>
                      </a: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49,000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1000"/>
                        </a:spcAft>
                      </a:pP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23</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1000"/>
                        </a:spcAft>
                      </a:pP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24.0%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tcPr>
                </a:tc>
              </a:tr>
              <a:tr h="734907">
                <a:tc>
                  <a:txBody>
                    <a:bodyPr/>
                    <a:lstStyle/>
                    <a:p>
                      <a:pPr marL="38100" marR="38100">
                        <a:lnSpc>
                          <a:spcPts val="1600"/>
                        </a:lnSpc>
                        <a:spcAft>
                          <a:spcPts val="1000"/>
                        </a:spcAft>
                      </a:pP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50,000 - </a:t>
                      </a: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99,000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18</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600">
                          <a:effectLst/>
                          <a:latin typeface="Times New Roman" panose="02020603050405020304" pitchFamily="18" charset="0"/>
                          <a:ea typeface="SimSun" panose="02010600030101010101" pitchFamily="2" charset="-122"/>
                          <a:cs typeface="Times New Roman" panose="02020603050405020304" pitchFamily="18" charset="0"/>
                        </a:rPr>
                        <a:t>18.8%</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734907">
                <a:tc>
                  <a:txBody>
                    <a:bodyPr/>
                    <a:lstStyle/>
                    <a:p>
                      <a:pPr marL="38100" marR="38100">
                        <a:lnSpc>
                          <a:spcPts val="1600"/>
                        </a:lnSpc>
                        <a:spcAft>
                          <a:spcPts val="1000"/>
                        </a:spcAft>
                      </a:pP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100,000 - </a:t>
                      </a: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149,000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600">
                          <a:effectLst/>
                          <a:latin typeface="Times New Roman" panose="02020603050405020304" pitchFamily="18" charset="0"/>
                          <a:ea typeface="SimSun" panose="02010600030101010101" pitchFamily="2" charset="-122"/>
                          <a:cs typeface="Times New Roman" panose="02020603050405020304" pitchFamily="18" charset="0"/>
                        </a:rPr>
                        <a:t>21</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600">
                          <a:effectLst/>
                          <a:latin typeface="Times New Roman" panose="02020603050405020304" pitchFamily="18" charset="0"/>
                          <a:ea typeface="SimSun" panose="02010600030101010101" pitchFamily="2" charset="-122"/>
                          <a:cs typeface="Times New Roman" panose="02020603050405020304" pitchFamily="18" charset="0"/>
                        </a:rPr>
                        <a:t>21.9%</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734907">
                <a:tc>
                  <a:txBody>
                    <a:bodyPr/>
                    <a:lstStyle/>
                    <a:p>
                      <a:pPr marL="38100" marR="38100">
                        <a:lnSpc>
                          <a:spcPts val="1600"/>
                        </a:lnSpc>
                        <a:spcAft>
                          <a:spcPts val="1000"/>
                        </a:spcAft>
                      </a:pPr>
                      <a:r>
                        <a:rPr lang="en-US" sz="1600">
                          <a:effectLst/>
                          <a:latin typeface="Times New Roman" panose="02020603050405020304" pitchFamily="18" charset="0"/>
                          <a:ea typeface="SimSun" panose="02010600030101010101" pitchFamily="2" charset="-122"/>
                          <a:cs typeface="Times New Roman" panose="02020603050405020304" pitchFamily="18" charset="0"/>
                        </a:rPr>
                        <a:t>Tzs. 150,000 - Tzs. 199,000</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20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c>
                  <a:txBody>
                    <a:bodyPr/>
                    <a:lstStyle/>
                    <a:p>
                      <a:pPr marL="38100" marR="38100" algn="ctr">
                        <a:lnSpc>
                          <a:spcPts val="1600"/>
                        </a:lnSpc>
                        <a:spcAft>
                          <a:spcPts val="1000"/>
                        </a:spcAft>
                      </a:pPr>
                      <a:r>
                        <a:rPr lang="en-US" sz="1600">
                          <a:effectLst/>
                          <a:latin typeface="Times New Roman" panose="02020603050405020304" pitchFamily="18" charset="0"/>
                          <a:ea typeface="SimSun" panose="02010600030101010101" pitchFamily="2" charset="-122"/>
                          <a:cs typeface="Times New Roman" panose="02020603050405020304" pitchFamily="18" charset="0"/>
                        </a:rPr>
                        <a:t>20.8%</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a:noFill/>
                    </a:lnB>
                  </a:tcPr>
                </a:tc>
              </a:tr>
              <a:tr h="612422">
                <a:tc>
                  <a:txBody>
                    <a:bodyPr/>
                    <a:lstStyle/>
                    <a:p>
                      <a:pPr marL="38100" marR="38100">
                        <a:lnSpc>
                          <a:spcPts val="1600"/>
                        </a:lnSpc>
                        <a:spcAft>
                          <a:spcPts val="1000"/>
                        </a:spcAft>
                      </a:pP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More than </a:t>
                      </a:r>
                      <a:r>
                        <a:rPr lang="en-US" sz="1600" dirty="0" err="1">
                          <a:effectLst/>
                          <a:latin typeface="Times New Roman" panose="02020603050405020304" pitchFamily="18" charset="0"/>
                          <a:ea typeface="SimSun" panose="02010600030101010101" pitchFamily="2" charset="-122"/>
                          <a:cs typeface="Times New Roman" panose="02020603050405020304" pitchFamily="18" charset="0"/>
                        </a:rPr>
                        <a:t>Tzs</a:t>
                      </a: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 200,000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600">
                          <a:effectLst/>
                          <a:latin typeface="Times New Roman" panose="02020603050405020304" pitchFamily="18" charset="0"/>
                          <a:ea typeface="SimSun" panose="02010600030101010101" pitchFamily="2" charset="-122"/>
                          <a:cs typeface="Times New Roman" panose="02020603050405020304" pitchFamily="18" charset="0"/>
                        </a:rPr>
                        <a:t>14</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1600" dirty="0">
                          <a:effectLst/>
                          <a:latin typeface="Times New Roman" panose="02020603050405020304" pitchFamily="18" charset="0"/>
                          <a:ea typeface="SimSun" panose="02010600030101010101" pitchFamily="2" charset="-122"/>
                          <a:cs typeface="Times New Roman" panose="02020603050405020304" pitchFamily="18" charset="0"/>
                        </a:rPr>
                        <a:t>14.6%</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0" marR="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4" name="Rectangle 3"/>
          <p:cNvSpPr/>
          <p:nvPr/>
        </p:nvSpPr>
        <p:spPr>
          <a:xfrm>
            <a:off x="218301" y="5304948"/>
            <a:ext cx="11372335" cy="1323439"/>
          </a:xfrm>
          <a:prstGeom prst="rect">
            <a:avLst/>
          </a:prstGeom>
        </p:spPr>
        <p:txBody>
          <a:bodyPr wrap="square">
            <a:spAutoFit/>
          </a:bodyPr>
          <a:lstStyle/>
          <a:p>
            <a:pPr algn="just">
              <a:spcAft>
                <a:spcPts val="1000"/>
              </a:spcAft>
            </a:pPr>
            <a:r>
              <a:rPr lang="en-US" sz="2000" dirty="0" smtClean="0">
                <a:latin typeface="Times New Roman" panose="02020603050405020304" pitchFamily="18" charset="0"/>
                <a:ea typeface="SimSun" panose="02010600030101010101" pitchFamily="2" charset="-122"/>
                <a:cs typeface="Times New Roman" panose="02020603050405020304" pitchFamily="18" charset="0"/>
              </a:rPr>
              <a:t>The results revealed that largest group of respondents with 24.0% earns between </a:t>
            </a:r>
            <a:r>
              <a:rPr lang="en-US" sz="2000" dirty="0" err="1" smtClean="0">
                <a:latin typeface="Times New Roman" panose="02020603050405020304" pitchFamily="18" charset="0"/>
                <a:ea typeface="SimSun" panose="02010600030101010101" pitchFamily="2" charset="-122"/>
                <a:cs typeface="Times New Roman" panose="02020603050405020304" pitchFamily="18" charset="0"/>
              </a:rPr>
              <a:t>Tzs</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 0 - Tzs.49,000 .This implies that mostly of the farmers do not engage more in other activities rather that's why the income generated in other activities is at lower level. </a:t>
            </a:r>
            <a:r>
              <a:rPr lang="en-US" sz="2000" dirty="0">
                <a:latin typeface="Times New Roman" panose="02020603050405020304" pitchFamily="18" charset="0"/>
                <a:ea typeface="SimSun" panose="02010600030101010101" pitchFamily="2" charset="-122"/>
                <a:cs typeface="Times New Roman" panose="02020603050405020304" pitchFamily="18" charset="0"/>
              </a:rPr>
              <a:t>This is similar to the study carried by </a:t>
            </a:r>
            <a:r>
              <a:rPr lang="en-US" sz="2000" dirty="0" err="1">
                <a:latin typeface="Times New Roman" panose="02020603050405020304" pitchFamily="18" charset="0"/>
                <a:ea typeface="SimSun" panose="02010600030101010101" pitchFamily="2" charset="-122"/>
                <a:cs typeface="Times New Roman" panose="02020603050405020304" pitchFamily="18" charset="0"/>
              </a:rPr>
              <a:t>Chamhuri</a:t>
            </a:r>
            <a:r>
              <a:rPr lang="en-US" sz="2000" dirty="0">
                <a:latin typeface="Times New Roman" panose="02020603050405020304" pitchFamily="18" charset="0"/>
                <a:ea typeface="SimSun" panose="02010600030101010101" pitchFamily="2" charset="-122"/>
                <a:cs typeface="Times New Roman" panose="02020603050405020304" pitchFamily="18" charset="0"/>
              </a:rPr>
              <a:t> N. (2023) revealed that income that earned from other activities apart from palm kernel oil production is at lower level</a:t>
            </a:r>
            <a:r>
              <a:rPr lang="en-US" sz="2000" dirty="0" smtClean="0">
                <a:latin typeface="Times New Roman" panose="02020603050405020304" pitchFamily="18" charset="0"/>
                <a:ea typeface="SimSun" panose="02010600030101010101" pitchFamily="2" charset="-122"/>
                <a:cs typeface="Times New Roman" panose="02020603050405020304" pitchFamily="18" charset="0"/>
              </a:rPr>
              <a:t>.</a:t>
            </a:r>
            <a:endParaRPr lang="en-US" dirty="0">
              <a:latin typeface="Calibri" panose="020F0502020204030204" pitchFamily="34" charset="0"/>
              <a:ea typeface="SimSun" panose="02010600030101010101" pitchFamily="2" charset="-122"/>
              <a:cs typeface="Times New Roman" panose="02020603050405020304" pitchFamily="18" charset="0"/>
            </a:endParaRPr>
          </a:p>
        </p:txBody>
      </p:sp>
      <p:sp>
        <p:nvSpPr>
          <p:cNvPr id="5" name="Rectangle 4"/>
          <p:cNvSpPr/>
          <p:nvPr/>
        </p:nvSpPr>
        <p:spPr>
          <a:xfrm>
            <a:off x="225286" y="620042"/>
            <a:ext cx="5679183" cy="369332"/>
          </a:xfrm>
          <a:prstGeom prst="rect">
            <a:avLst/>
          </a:prstGeom>
        </p:spPr>
        <p:txBody>
          <a:bodyPr wrap="none">
            <a:spAutoFit/>
          </a:bodyPr>
          <a:lstStyle/>
          <a:p>
            <a:pPr>
              <a:spcAft>
                <a:spcPts val="1000"/>
              </a:spcAft>
            </a:pPr>
            <a:r>
              <a:rPr lang="en-US" b="1" dirty="0">
                <a:latin typeface="Times New Roman" panose="02020603050405020304" pitchFamily="18" charset="0"/>
                <a:ea typeface="SimSun" panose="02010600030101010101" pitchFamily="2" charset="-122"/>
                <a:cs typeface="Times New Roman" panose="02020603050405020304" pitchFamily="18" charset="0"/>
              </a:rPr>
              <a:t>Table 3: Estimated Income from Other Activities (n=96)</a:t>
            </a:r>
            <a:endParaRPr lang="en-US" sz="1100" i="1"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02202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448" y="0"/>
            <a:ext cx="5527591" cy="769441"/>
          </a:xfrm>
          <a:prstGeom prst="rect">
            <a:avLst/>
          </a:prstGeom>
        </p:spPr>
        <p:txBody>
          <a:bodyPr wrap="square">
            <a:spAutoFit/>
          </a:bodyPr>
          <a:lstStyle/>
          <a:p>
            <a:pPr algn="just">
              <a:spcBef>
                <a:spcPts val="1000"/>
              </a:spcBef>
              <a:spcAft>
                <a:spcPts val="0"/>
              </a:spcAft>
              <a:tabLst>
                <a:tab pos="342900" algn="l"/>
              </a:tabLst>
            </a:pPr>
            <a:r>
              <a:rPr lang="en-US" sz="2200" b="1" dirty="0">
                <a:latin typeface="Times New Roman" panose="02020603050405020304" pitchFamily="18" charset="0"/>
                <a:cs typeface="SimSun" panose="02010600030101010101" pitchFamily="2" charset="-122"/>
              </a:rPr>
              <a:t>Social services accessed by palm kernel oil production farmers </a:t>
            </a:r>
            <a:endParaRPr lang="en-US" sz="2200" b="1" dirty="0">
              <a:latin typeface="Cambria" panose="02040503050406030204" pitchFamily="18" charset="0"/>
              <a:cs typeface="SimSun" panose="02010600030101010101" pitchFamily="2" charset="-122"/>
            </a:endParaRPr>
          </a:p>
        </p:txBody>
      </p:sp>
      <p:graphicFrame>
        <p:nvGraphicFramePr>
          <p:cNvPr id="9" name="Table 8"/>
          <p:cNvGraphicFramePr>
            <a:graphicFrameLocks noGrp="1"/>
          </p:cNvGraphicFramePr>
          <p:nvPr>
            <p:extLst>
              <p:ext uri="{D42A27DB-BD31-4B8C-83A1-F6EECF244321}">
                <p14:modId xmlns:p14="http://schemas.microsoft.com/office/powerpoint/2010/main" val="844581184"/>
              </p:ext>
            </p:extLst>
          </p:nvPr>
        </p:nvGraphicFramePr>
        <p:xfrm>
          <a:off x="5758248" y="98856"/>
          <a:ext cx="6037220" cy="6660019"/>
        </p:xfrm>
        <a:graphic>
          <a:graphicData uri="http://schemas.openxmlformats.org/drawingml/2006/table">
            <a:tbl>
              <a:tblPr firstRow="1" firstCol="1" bandRow="1"/>
              <a:tblGrid>
                <a:gridCol w="2011976"/>
                <a:gridCol w="2012622"/>
                <a:gridCol w="2012622"/>
              </a:tblGrid>
              <a:tr h="1693849">
                <a:tc>
                  <a:txBody>
                    <a:bodyPr/>
                    <a:lstStyle/>
                    <a:p>
                      <a:pPr algn="just">
                        <a:lnSpc>
                          <a:spcPct val="115000"/>
                        </a:lnSpc>
                        <a:spcAft>
                          <a:spcPts val="1000"/>
                        </a:spcAft>
                        <a:tabLst>
                          <a:tab pos="1285875" algn="l"/>
                        </a:tabLst>
                      </a:pPr>
                      <a:r>
                        <a:rPr lang="en-US" sz="2000" b="1" dirty="0">
                          <a:effectLst/>
                          <a:latin typeface="Times New Roman" panose="02020603050405020304" pitchFamily="18" charset="0"/>
                          <a:ea typeface="SimSun" panose="02010600030101010101" pitchFamily="2" charset="-122"/>
                          <a:cs typeface="Times New Roman" panose="02020603050405020304" pitchFamily="18" charset="0"/>
                        </a:rPr>
                        <a:t>Social services accessed by palm kernel</a:t>
                      </a:r>
                      <a:r>
                        <a:rPr lang="en-US" sz="2000" b="1" dirty="0">
                          <a:effectLst/>
                          <a:latin typeface="Calibri" panose="020F0502020204030204" pitchFamily="34" charset="0"/>
                          <a:ea typeface="SimSun" panose="02010600030101010101" pitchFamily="2" charset="-122"/>
                          <a:cs typeface="Times New Roman" panose="02020603050405020304" pitchFamily="18" charset="0"/>
                        </a:rPr>
                        <a:t>	</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dirty="0">
                          <a:effectLst/>
                          <a:latin typeface="Calibri" panose="020F0502020204030204" pitchFamily="34" charset="0"/>
                          <a:ea typeface="SimSun" panose="02010600030101010101" pitchFamily="2" charset="-122"/>
                          <a:cs typeface="Times New Roman" panose="02020603050405020304" pitchFamily="18" charset="0"/>
                        </a:rPr>
                        <a:t>Frequency </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2000" b="1">
                          <a:effectLst/>
                          <a:latin typeface="Calibri" panose="020F0502020204030204" pitchFamily="34" charset="0"/>
                          <a:ea typeface="SimSun" panose="02010600030101010101" pitchFamily="2" charset="-122"/>
                          <a:cs typeface="Times New Roman" panose="02020603050405020304" pitchFamily="18" charset="0"/>
                        </a:rPr>
                        <a:t>Percent of cases</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27695">
                <a:tc>
                  <a:txBody>
                    <a:bodyPr/>
                    <a:lstStyle/>
                    <a:p>
                      <a:pPr marL="38100" marR="38100">
                        <a:lnSpc>
                          <a:spcPts val="1600"/>
                        </a:lnSpc>
                        <a:spcAft>
                          <a:spcPts val="1000"/>
                        </a:spcAft>
                      </a:pPr>
                      <a:r>
                        <a:rPr lang="en-US" sz="2000" dirty="0" smtClean="0">
                          <a:effectLst/>
                          <a:latin typeface="Times New Roman" panose="02020603050405020304" pitchFamily="18" charset="0"/>
                          <a:ea typeface="SimSun" panose="02010600030101010101" pitchFamily="2" charset="-122"/>
                          <a:cs typeface="Times New Roman" panose="02020603050405020304" pitchFamily="18" charset="0"/>
                        </a:rPr>
                        <a:t>Water </a:t>
                      </a: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services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94</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97.9%</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827695">
                <a:tc>
                  <a:txBody>
                    <a:bodyPr/>
                    <a:lstStyle/>
                    <a:p>
                      <a:pPr marL="38100" marR="38100">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Offerings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92</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95.8%</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827695">
                <a:tc>
                  <a:txBody>
                    <a:bodyPr/>
                    <a:lstStyle/>
                    <a:p>
                      <a:pPr marL="38100" marR="38100">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Health bills</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91</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94.8%</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827695">
                <a:tc>
                  <a:txBody>
                    <a:bodyPr/>
                    <a:lstStyle/>
                    <a:p>
                      <a:pPr marL="38100" marR="38100">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Schooling</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88</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91.7%</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827695">
                <a:tc>
                  <a:txBody>
                    <a:bodyPr/>
                    <a:lstStyle/>
                    <a:p>
                      <a:pPr marL="38100" marR="38100">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Food security</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73</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76.0%</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827695">
                <a:tc>
                  <a:txBody>
                    <a:bodyPr/>
                    <a:lstStyle/>
                    <a:p>
                      <a:pPr marL="38100" marR="38100">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Others</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2000">
                          <a:effectLst/>
                          <a:latin typeface="Times New Roman" panose="02020603050405020304" pitchFamily="18" charset="0"/>
                          <a:ea typeface="SimSun" panose="02010600030101010101" pitchFamily="2" charset="-122"/>
                          <a:cs typeface="Times New Roman" panose="02020603050405020304" pitchFamily="18" charset="0"/>
                        </a:rPr>
                        <a:t>4</a:t>
                      </a:r>
                      <a:endParaRPr lang="en-US" sz="20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1000"/>
                        </a:spcAft>
                      </a:pPr>
                      <a:r>
                        <a:rPr lang="en-US" sz="2000" dirty="0">
                          <a:effectLst/>
                          <a:latin typeface="Times New Roman" panose="02020603050405020304" pitchFamily="18" charset="0"/>
                          <a:ea typeface="SimSun" panose="02010600030101010101" pitchFamily="2" charset="-122"/>
                          <a:cs typeface="Times New Roman" panose="02020603050405020304" pitchFamily="18" charset="0"/>
                        </a:rPr>
                        <a:t>4.2%</a:t>
                      </a:r>
                      <a:endParaRPr lang="en-US" sz="20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0" name="Rectangle 9"/>
          <p:cNvSpPr/>
          <p:nvPr/>
        </p:nvSpPr>
        <p:spPr>
          <a:xfrm>
            <a:off x="0" y="1055588"/>
            <a:ext cx="5647039" cy="3914918"/>
          </a:xfrm>
          <a:prstGeom prst="rect">
            <a:avLst/>
          </a:prstGeom>
        </p:spPr>
        <p:txBody>
          <a:bodyPr wrap="square">
            <a:spAutoFit/>
          </a:bodyPr>
          <a:lstStyle/>
          <a:p>
            <a:pPr algn="just">
              <a:lnSpc>
                <a:spcPct val="115000"/>
              </a:lnSpc>
              <a:spcAft>
                <a:spcPts val="1000"/>
              </a:spcAft>
            </a:pPr>
            <a:r>
              <a:rPr lang="en-US" sz="2400" dirty="0">
                <a:latin typeface="Times New Roman" panose="02020603050405020304" pitchFamily="18" charset="0"/>
                <a:ea typeface="SimSun" panose="02010600030101010101" pitchFamily="2" charset="-122"/>
                <a:cs typeface="Times New Roman" panose="02020603050405020304" pitchFamily="18" charset="0"/>
              </a:rPr>
              <a:t>Water services is the most frequently reported with 97.9% of cases this implies that water services is crucial for both personal and  production use.  this is similar with study by </a:t>
            </a:r>
            <a:r>
              <a:rPr lang="en-US" sz="2400" dirty="0" err="1">
                <a:latin typeface="Times New Roman" panose="02020603050405020304" pitchFamily="18" charset="0"/>
                <a:ea typeface="SimSun" panose="02010600030101010101" pitchFamily="2" charset="-122"/>
                <a:cs typeface="Times New Roman" panose="02020603050405020304" pitchFamily="18" charset="0"/>
              </a:rPr>
              <a:t>Mishili</a:t>
            </a:r>
            <a:r>
              <a:rPr lang="en-US" sz="2400" dirty="0">
                <a:latin typeface="Times New Roman" panose="02020603050405020304" pitchFamily="18" charset="0"/>
                <a:ea typeface="SimSun" panose="02010600030101010101" pitchFamily="2" charset="-122"/>
                <a:cs typeface="Times New Roman" panose="02020603050405020304" pitchFamily="18" charset="0"/>
              </a:rPr>
              <a:t> F. (2023) which described that farmers who engage in palm kernel oil production has an access to various social services like water services, education and food security. </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 name="Rectangle 10"/>
          <p:cNvSpPr/>
          <p:nvPr/>
        </p:nvSpPr>
        <p:spPr>
          <a:xfrm>
            <a:off x="119448" y="5256653"/>
            <a:ext cx="5354270" cy="707886"/>
          </a:xfrm>
          <a:prstGeom prst="rect">
            <a:avLst/>
          </a:prstGeom>
        </p:spPr>
        <p:txBody>
          <a:bodyPr wrap="square">
            <a:spAutoFit/>
          </a:bodyPr>
          <a:lstStyle/>
          <a:p>
            <a:pPr algn="just">
              <a:spcAft>
                <a:spcPts val="1000"/>
              </a:spcAft>
            </a:pPr>
            <a:r>
              <a:rPr lang="en-US" sz="2000" b="1" dirty="0">
                <a:latin typeface="Times New Roman" panose="02020603050405020304" pitchFamily="18" charset="0"/>
                <a:ea typeface="SimSun" panose="02010600030101010101" pitchFamily="2" charset="-122"/>
                <a:cs typeface="Times New Roman" panose="02020603050405020304" pitchFamily="18" charset="0"/>
              </a:rPr>
              <a:t> Table 4: Social services accessed by palm kernel oil production farmers </a:t>
            </a: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(n=96)</a:t>
            </a:r>
            <a:endParaRPr lang="en-US"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96091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11211" y="263782"/>
            <a:ext cx="5511113" cy="4892621"/>
          </a:xfrm>
          <a:prstGeom prst="rect">
            <a:avLst/>
          </a:prstGeom>
        </p:spPr>
        <p:txBody>
          <a:bodyPr wrap="square">
            <a:spAutoFit/>
          </a:bodyPr>
          <a:lstStyle/>
          <a:p>
            <a:pPr algn="just">
              <a:lnSpc>
                <a:spcPct val="115000"/>
              </a:lnSpc>
              <a:spcAft>
                <a:spcPts val="1000"/>
              </a:spcAft>
            </a:pPr>
            <a:r>
              <a:rPr lang="en-US" sz="2400" b="1" dirty="0" smtClean="0">
                <a:latin typeface="Times New Roman" panose="02020603050405020304" pitchFamily="18" charset="0"/>
                <a:ea typeface="SimSun" panose="02010600030101010101" pitchFamily="2" charset="-122"/>
                <a:cs typeface="Times New Roman" panose="02020603050405020304" pitchFamily="18" charset="0"/>
              </a:rPr>
              <a:t>Asset owned by palm kernel oil production farmers </a:t>
            </a:r>
          </a:p>
          <a:p>
            <a:pPr algn="just">
              <a:lnSpc>
                <a:spcPct val="115000"/>
              </a:lnSpc>
              <a:spcAft>
                <a:spcPts val="1000"/>
              </a:spcAft>
            </a:pPr>
            <a:r>
              <a:rPr lang="en-US" sz="2400" dirty="0" smtClean="0">
                <a:latin typeface="Times New Roman" panose="02020603050405020304" pitchFamily="18" charset="0"/>
                <a:ea typeface="SimSun" panose="02010600030101010101" pitchFamily="2" charset="-122"/>
                <a:cs typeface="Times New Roman" panose="02020603050405020304" pitchFamily="18" charset="0"/>
              </a:rPr>
              <a:t>The </a:t>
            </a:r>
            <a:r>
              <a:rPr lang="en-US" sz="2400" dirty="0">
                <a:latin typeface="Times New Roman" panose="02020603050405020304" pitchFamily="18" charset="0"/>
                <a:ea typeface="SimSun" panose="02010600030101010101" pitchFamily="2" charset="-122"/>
                <a:cs typeface="Times New Roman" panose="02020603050405020304" pitchFamily="18" charset="0"/>
              </a:rPr>
              <a:t>result revealed that phones and televisions are the mostly owned assets among palm kernel oil production farmers with 99.9% of cases for both. This is in line with the study by </a:t>
            </a:r>
            <a:r>
              <a:rPr lang="en-US" sz="2400" dirty="0" err="1">
                <a:latin typeface="Times New Roman" panose="02020603050405020304" pitchFamily="18" charset="0"/>
                <a:ea typeface="SimSun" panose="02010600030101010101" pitchFamily="2" charset="-122"/>
                <a:cs typeface="Times New Roman" panose="02020603050405020304" pitchFamily="18" charset="0"/>
              </a:rPr>
              <a:t>Salleh</a:t>
            </a:r>
            <a:r>
              <a:rPr lang="en-US" sz="2400" dirty="0">
                <a:latin typeface="Times New Roman" panose="02020603050405020304" pitchFamily="18" charset="0"/>
                <a:ea typeface="SimSun" panose="02010600030101010101" pitchFamily="2" charset="-122"/>
                <a:cs typeface="Times New Roman" panose="02020603050405020304" pitchFamily="18" charset="0"/>
              </a:rPr>
              <a:t>  N. (2023) who described that the production of kernel oil enables farmers  to own assets including land, means of transport and various </a:t>
            </a:r>
            <a:r>
              <a:rPr lang="en-US" sz="2400" dirty="0" err="1">
                <a:latin typeface="Times New Roman" panose="02020603050405020304" pitchFamily="18" charset="0"/>
                <a:ea typeface="SimSun" panose="02010600030101010101" pitchFamily="2" charset="-122"/>
                <a:cs typeface="Times New Roman" panose="02020603050405020304" pitchFamily="18" charset="0"/>
              </a:rPr>
              <a:t>furnitures</a:t>
            </a:r>
            <a:r>
              <a:rPr lang="en-US" sz="2400" dirty="0">
                <a:latin typeface="Times New Roman" panose="02020603050405020304" pitchFamily="18" charset="0"/>
                <a:ea typeface="SimSun" panose="02010600030101010101" pitchFamily="2" charset="-122"/>
                <a:cs typeface="Times New Roman" panose="02020603050405020304" pitchFamily="18" charset="0"/>
              </a:rPr>
              <a:t>. </a:t>
            </a:r>
            <a:endParaRPr lang="en-US" sz="2400" dirty="0">
              <a:effectLst/>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284297885"/>
              </p:ext>
            </p:extLst>
          </p:nvPr>
        </p:nvGraphicFramePr>
        <p:xfrm>
          <a:off x="6012678" y="135922"/>
          <a:ext cx="5973376" cy="6450225"/>
        </p:xfrm>
        <a:graphic>
          <a:graphicData uri="http://schemas.openxmlformats.org/drawingml/2006/table">
            <a:tbl>
              <a:tblPr firstRow="1" firstCol="1" bandRow="1"/>
              <a:tblGrid>
                <a:gridCol w="2257147"/>
                <a:gridCol w="1724873"/>
                <a:gridCol w="1991356"/>
              </a:tblGrid>
              <a:tr h="1100512">
                <a:tc>
                  <a:txBody>
                    <a:bodyPr/>
                    <a:lstStyle/>
                    <a:p>
                      <a:pPr>
                        <a:lnSpc>
                          <a:spcPct val="115000"/>
                        </a:lnSpc>
                        <a:spcAft>
                          <a:spcPts val="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Assets Owned by Palm Kernel Oil Production Farmers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a:effectLst/>
                          <a:latin typeface="Times New Roman" panose="02020603050405020304" pitchFamily="18" charset="0"/>
                          <a:ea typeface="Calibri" panose="020F0502020204030204" pitchFamily="34" charset="0"/>
                          <a:cs typeface="Times New Roman" panose="02020603050405020304" pitchFamily="18" charset="0"/>
                        </a:rPr>
                        <a:t>frequency</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800" b="1">
                          <a:effectLst/>
                          <a:latin typeface="Times New Roman" panose="02020603050405020304" pitchFamily="18" charset="0"/>
                          <a:ea typeface="Calibri" panose="020F0502020204030204" pitchFamily="34" charset="0"/>
                          <a:cs typeface="Times New Roman" panose="02020603050405020304" pitchFamily="18" charset="0"/>
                        </a:rPr>
                        <a:t>% of cases</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8452">
                <a:tc>
                  <a:txBody>
                    <a:bodyPr/>
                    <a:lstStyle/>
                    <a:p>
                      <a:pPr marL="38100" marR="38100">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Phones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95</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99.9%</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488452">
                <a:tc>
                  <a:txBody>
                    <a:bodyPr/>
                    <a:lstStyle/>
                    <a:p>
                      <a:pPr marL="38100" marR="38100">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Television</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95</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99.9%</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Radio</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93</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96.9%</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Furniture</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89</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92.7%</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65193">
                <a:tc>
                  <a:txBody>
                    <a:bodyPr/>
                    <a:lstStyle/>
                    <a:p>
                      <a:pPr marL="38100" marR="38100">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Mattresses</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87</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90.6%</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Means of transport</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87</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90.0%</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Housing</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77</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80.2%</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Machines</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59</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61.5%</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Land</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28</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29.2%</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Kitchen utensils</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27</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28.1%</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a:noFill/>
                    </a:lnB>
                  </a:tcPr>
                </a:tc>
              </a:tr>
              <a:tr h="488452">
                <a:tc>
                  <a:txBody>
                    <a:bodyPr/>
                    <a:lstStyle/>
                    <a:p>
                      <a:pPr marL="38100" marR="38100">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Others</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0"/>
                        </a:spcAft>
                      </a:pPr>
                      <a:r>
                        <a:rPr lang="en-US" sz="1800">
                          <a:effectLst/>
                          <a:latin typeface="Times New Roman" panose="02020603050405020304" pitchFamily="18" charset="0"/>
                          <a:ea typeface="Calibri" panose="020F0502020204030204" pitchFamily="34" charset="0"/>
                          <a:cs typeface="Times New Roman" panose="02020603050405020304" pitchFamily="18" charset="0"/>
                        </a:rPr>
                        <a:t>2</a:t>
                      </a:r>
                      <a:endParaRPr lang="en-US" sz="16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38100" marR="38100" algn="ctr">
                        <a:lnSpc>
                          <a:spcPts val="1600"/>
                        </a:lnSpc>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2.1%</a:t>
                      </a:r>
                      <a:endParaRPr lang="en-US" sz="16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0" name="Rectangle 9"/>
          <p:cNvSpPr/>
          <p:nvPr/>
        </p:nvSpPr>
        <p:spPr>
          <a:xfrm>
            <a:off x="111211" y="5319646"/>
            <a:ext cx="5242842" cy="707886"/>
          </a:xfrm>
          <a:prstGeom prst="rect">
            <a:avLst/>
          </a:prstGeom>
        </p:spPr>
        <p:txBody>
          <a:bodyPr wrap="square">
            <a:spAutoFit/>
          </a:bodyPr>
          <a:lstStyle/>
          <a:p>
            <a:pPr>
              <a:spcAft>
                <a:spcPts val="1000"/>
              </a:spcAft>
            </a:pPr>
            <a:r>
              <a:rPr lang="en-US" sz="2000" b="1" dirty="0">
                <a:latin typeface="Times New Roman" panose="02020603050405020304" pitchFamily="18" charset="0"/>
                <a:ea typeface="SimSun" panose="02010600030101010101" pitchFamily="2" charset="-122"/>
                <a:cs typeface="Times New Roman" panose="02020603050405020304" pitchFamily="18" charset="0"/>
              </a:rPr>
              <a:t>Table </a:t>
            </a: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5: </a:t>
            </a:r>
            <a:r>
              <a:rPr lang="en-US" sz="2000" b="1" dirty="0">
                <a:latin typeface="Times New Roman" panose="02020603050405020304" pitchFamily="18" charset="0"/>
                <a:ea typeface="SimSun" panose="02010600030101010101" pitchFamily="2" charset="-122"/>
                <a:cs typeface="Times New Roman" panose="02020603050405020304" pitchFamily="18" charset="0"/>
              </a:rPr>
              <a:t>Assets Owned by Palm Kernel Oil Production </a:t>
            </a:r>
            <a:r>
              <a:rPr lang="en-US" sz="2000" b="1" dirty="0" smtClean="0">
                <a:latin typeface="Times New Roman" panose="02020603050405020304" pitchFamily="18" charset="0"/>
                <a:ea typeface="SimSun" panose="02010600030101010101" pitchFamily="2" charset="-122"/>
                <a:cs typeface="Times New Roman" panose="02020603050405020304" pitchFamily="18" charset="0"/>
              </a:rPr>
              <a:t>Farmers (n=96)</a:t>
            </a:r>
            <a:endParaRPr lang="en-US" sz="1200" i="1"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785663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230" y="252664"/>
            <a:ext cx="5759118" cy="6258123"/>
          </a:xfrm>
          <a:prstGeom prst="rect">
            <a:avLst/>
          </a:prstGeom>
        </p:spPr>
        <p:txBody>
          <a:bodyPr wrap="square">
            <a:spAutoFit/>
          </a:bodyPr>
          <a:lstStyle/>
          <a:p>
            <a:pPr>
              <a:spcBef>
                <a:spcPts val="1000"/>
              </a:spcBef>
              <a:spcAft>
                <a:spcPts val="0"/>
              </a:spcAft>
              <a:tabLst>
                <a:tab pos="342900" algn="l"/>
              </a:tabLst>
            </a:pPr>
            <a:r>
              <a:rPr lang="en-US" sz="2400" b="1" dirty="0">
                <a:latin typeface="Times New Roman" panose="02020603050405020304" pitchFamily="18" charset="0"/>
                <a:cs typeface="SimSun" panose="02010600030101010101" pitchFamily="2" charset="-122"/>
              </a:rPr>
              <a:t>Conclusion</a:t>
            </a:r>
            <a:endParaRPr lang="en-US" sz="2400" b="1" dirty="0">
              <a:latin typeface="Cambria" panose="02040503050406030204" pitchFamily="18" charset="0"/>
              <a:cs typeface="SimSun" panose="02010600030101010101" pitchFamily="2" charset="-122"/>
            </a:endParaRPr>
          </a:p>
          <a:p>
            <a:pPr marL="342900" indent="-342900" algn="just">
              <a:spcAft>
                <a:spcPts val="1000"/>
              </a:spcAft>
              <a:buFont typeface="Arial" panose="020B0604020202020204" pitchFamily="34" charset="0"/>
              <a:buChar char="•"/>
            </a:pPr>
            <a:r>
              <a:rPr lang="en-US" sz="2400" dirty="0">
                <a:latin typeface="Times New Roman" panose="02020603050405020304" pitchFamily="18" charset="0"/>
                <a:ea typeface="SimSun" panose="02010600030101010101" pitchFamily="2" charset="-122"/>
                <a:cs typeface="Times New Roman" panose="02020603050405020304" pitchFamily="18" charset="0"/>
              </a:rPr>
              <a:t>This research provides a comprehensive analysis of the income distribution among respondents engaged in palm kernel oil production and other income-generating </a:t>
            </a:r>
            <a:r>
              <a:rPr lang="en-US" sz="2400" dirty="0" smtClean="0">
                <a:latin typeface="Times New Roman" panose="02020603050405020304" pitchFamily="18" charset="0"/>
                <a:ea typeface="SimSun" panose="02010600030101010101" pitchFamily="2" charset="-122"/>
                <a:cs typeface="Times New Roman" panose="02020603050405020304" pitchFamily="18" charset="0"/>
              </a:rPr>
              <a:t>activities with majority of respondents falling within moderate income.  </a:t>
            </a:r>
            <a:endParaRPr lang="en-US" sz="2400" dirty="0" smtClean="0">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just">
              <a:spcAft>
                <a:spcPts val="1000"/>
              </a:spcAft>
              <a:buFont typeface="Arial" panose="020B0604020202020204" pitchFamily="34" charset="0"/>
              <a:buChar char="•"/>
            </a:pPr>
            <a:r>
              <a:rPr lang="en-US" sz="2400" dirty="0" smtClean="0">
                <a:latin typeface="Times New Roman" panose="02020603050405020304" pitchFamily="18" charset="0"/>
                <a:ea typeface="SimSun" panose="02010600030101010101" pitchFamily="2" charset="-122"/>
                <a:cs typeface="Times New Roman" panose="02020603050405020304" pitchFamily="18" charset="0"/>
              </a:rPr>
              <a:t>The </a:t>
            </a:r>
            <a:r>
              <a:rPr lang="en-US" sz="2400" dirty="0">
                <a:latin typeface="Times New Roman" panose="02020603050405020304" pitchFamily="18" charset="0"/>
                <a:ea typeface="SimSun" panose="02010600030101010101" pitchFamily="2" charset="-122"/>
                <a:cs typeface="Times New Roman" panose="02020603050405020304" pitchFamily="18" charset="0"/>
              </a:rPr>
              <a:t>analysis of social services accessed by palm kernel oil production farmers highlights the significant benefits and improved living standards derived from their economic activities. </a:t>
            </a:r>
            <a:endParaRPr lang="en-US" sz="2400" dirty="0" smtClean="0">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just">
              <a:spcAft>
                <a:spcPts val="1000"/>
              </a:spcAft>
              <a:buFont typeface="Arial" panose="020B0604020202020204" pitchFamily="34" charset="0"/>
              <a:buChar char="•"/>
            </a:pPr>
            <a:r>
              <a:rPr lang="en-US" sz="2400" dirty="0" smtClean="0">
                <a:latin typeface="Times New Roman" panose="02020603050405020304" pitchFamily="18" charset="0"/>
                <a:ea typeface="SimSun" panose="02010600030101010101" pitchFamily="2" charset="-122"/>
                <a:cs typeface="Times New Roman" panose="02020603050405020304" pitchFamily="18" charset="0"/>
              </a:rPr>
              <a:t>Diverse </a:t>
            </a:r>
            <a:r>
              <a:rPr lang="en-US" sz="2400" dirty="0">
                <a:latin typeface="Times New Roman" panose="02020603050405020304" pitchFamily="18" charset="0"/>
                <a:ea typeface="SimSun" panose="02010600030101010101" pitchFamily="2" charset="-122"/>
                <a:cs typeface="Times New Roman" panose="02020603050405020304" pitchFamily="18" charset="0"/>
              </a:rPr>
              <a:t>range of assets owned by palm kernel oil production farmers highlights the substantial economic benefits derived from this </a:t>
            </a:r>
            <a:r>
              <a:rPr lang="en-US" sz="2400" dirty="0" smtClean="0">
                <a:latin typeface="Times New Roman" panose="02020603050405020304" pitchFamily="18" charset="0"/>
                <a:ea typeface="SimSun" panose="02010600030101010101" pitchFamily="2" charset="-122"/>
                <a:cs typeface="Times New Roman" panose="02020603050405020304" pitchFamily="18" charset="0"/>
              </a:rPr>
              <a:t>activity</a:t>
            </a:r>
            <a:endParaRPr lang="en-US" sz="24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3" name="Rectangle 2"/>
          <p:cNvSpPr/>
          <p:nvPr/>
        </p:nvSpPr>
        <p:spPr>
          <a:xfrm>
            <a:off x="6075947" y="216569"/>
            <a:ext cx="5919537" cy="5216813"/>
          </a:xfrm>
          <a:prstGeom prst="rect">
            <a:avLst/>
          </a:prstGeom>
        </p:spPr>
        <p:txBody>
          <a:bodyPr wrap="square">
            <a:spAutoFit/>
          </a:bodyPr>
          <a:lstStyle/>
          <a:p>
            <a:pPr algn="just">
              <a:spcAft>
                <a:spcPts val="1000"/>
              </a:spcAft>
            </a:pPr>
            <a:r>
              <a:rPr lang="en-US" sz="2000" b="1" dirty="0">
                <a:latin typeface="Times New Roman" panose="02020603050405020304" pitchFamily="18" charset="0"/>
                <a:ea typeface="SimSun" panose="02010600030101010101" pitchFamily="2" charset="-122"/>
              </a:rPr>
              <a:t>Recommendations</a:t>
            </a:r>
            <a:endParaRPr lang="en-US" sz="20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just">
              <a:spcAft>
                <a:spcPts val="1000"/>
              </a:spcAft>
              <a:buFont typeface="Arial" panose="020B0604020202020204" pitchFamily="34" charset="0"/>
              <a:buChar char="•"/>
            </a:pPr>
            <a:r>
              <a:rPr lang="en-US" sz="24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t>
            </a:r>
            <a:r>
              <a:rPr lang="en-US" sz="24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Initiatives that promote income diversification should be prioritized to reduce reliance on a single economic activity and increase financial resilience. </a:t>
            </a:r>
            <a:endParaRPr lang="en-US" sz="24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just">
              <a:spcAft>
                <a:spcPts val="1000"/>
              </a:spcAft>
              <a:buFont typeface="Arial" panose="020B0604020202020204" pitchFamily="34" charset="0"/>
              <a:buChar char="•"/>
            </a:pPr>
            <a:r>
              <a:rPr lang="en-US" sz="24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rPr>
              <a:t>Efforts </a:t>
            </a:r>
            <a:r>
              <a:rPr lang="en-US" sz="24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should be made to improve and expand access to water services, given its critical importance for both personal and agricultural use. </a:t>
            </a:r>
            <a:endParaRPr lang="en-US" sz="2400" dirty="0" smtClean="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just">
              <a:spcAft>
                <a:spcPts val="1000"/>
              </a:spcAft>
              <a:buFont typeface="Arial" panose="020B0604020202020204" pitchFamily="34" charset="0"/>
              <a:buChar char="•"/>
            </a:pPr>
            <a:r>
              <a:rPr lang="en-US" sz="2400" dirty="0" smtClean="0">
                <a:solidFill>
                  <a:srgbClr val="000000"/>
                </a:solidFill>
                <a:latin typeface="Times New Roman" panose="02020603050405020304" pitchFamily="18" charset="0"/>
                <a:ea typeface="SimSun" panose="02010600030101010101" pitchFamily="2" charset="-122"/>
              </a:rPr>
              <a:t>Investments </a:t>
            </a:r>
            <a:r>
              <a:rPr lang="en-US" sz="2400" dirty="0">
                <a:solidFill>
                  <a:srgbClr val="000000"/>
                </a:solidFill>
                <a:latin typeface="Times New Roman" panose="02020603050405020304" pitchFamily="18" charset="0"/>
                <a:ea typeface="SimSun" panose="02010600030101010101" pitchFamily="2" charset="-122"/>
              </a:rPr>
              <a:t>in housing and basic comfort, including furniture and mattresses, should be encouraged to promote stable and improved living conditions. </a:t>
            </a:r>
            <a:endParaRPr lang="en-US" sz="2400" dirty="0"/>
          </a:p>
        </p:txBody>
      </p:sp>
    </p:spTree>
    <p:extLst>
      <p:ext uri="{BB962C8B-B14F-4D97-AF65-F5344CB8AC3E}">
        <p14:creationId xmlns:p14="http://schemas.microsoft.com/office/powerpoint/2010/main" val="40104863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1503</Words>
  <Application>Microsoft Office PowerPoint</Application>
  <PresentationFormat>Widescreen</PresentationFormat>
  <Paragraphs>300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SimSun</vt:lpstr>
      <vt:lpstr>Arial</vt:lpstr>
      <vt:lpstr>Calibri</vt:lpstr>
      <vt:lpstr>Calibri Light</vt:lpstr>
      <vt:lpstr>Cambria</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23</cp:revision>
  <dcterms:created xsi:type="dcterms:W3CDTF">2024-08-25T13:08:56Z</dcterms:created>
  <dcterms:modified xsi:type="dcterms:W3CDTF">2024-08-26T10:18:29Z</dcterms:modified>
</cp:coreProperties>
</file>