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80" d="100"/>
          <a:sy n="80" d="100"/>
        </p:scale>
        <p:origin x="33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82EFD09-E7E7-40A7-8BFF-DD44DB9C5487}" type="datetimeFigureOut">
              <a:rPr lang="en-US" smtClean="0"/>
              <a:t>8/27/2024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E49365-041E-460D-8EF6-C3168A892973}" type="slidenum">
              <a:rPr lang="en-US" smtClean="0"/>
              <a:t>‹#›</a:t>
            </a:fld>
            <a:endParaRPr lang="en-US"/>
          </a:p>
        </p:txBody>
      </p:sp>
    </p:spTree>
    <p:extLst>
      <p:ext uri="{BB962C8B-B14F-4D97-AF65-F5344CB8AC3E}">
        <p14:creationId xmlns:p14="http://schemas.microsoft.com/office/powerpoint/2010/main" val="4275021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2EFD09-E7E7-40A7-8BFF-DD44DB9C5487}" type="datetimeFigureOut">
              <a:rPr lang="en-US" smtClean="0"/>
              <a:t>8/27/2024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E49365-041E-460D-8EF6-C3168A892973}" type="slidenum">
              <a:rPr lang="en-US" smtClean="0"/>
              <a:t>‹#›</a:t>
            </a:fld>
            <a:endParaRPr lang="en-US"/>
          </a:p>
        </p:txBody>
      </p:sp>
    </p:spTree>
    <p:extLst>
      <p:ext uri="{BB962C8B-B14F-4D97-AF65-F5344CB8AC3E}">
        <p14:creationId xmlns:p14="http://schemas.microsoft.com/office/powerpoint/2010/main" val="763764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82EFD09-E7E7-40A7-8BFF-DD44DB9C5487}" type="datetimeFigureOut">
              <a:rPr lang="en-US" smtClean="0"/>
              <a:t>8/27/2024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E49365-041E-460D-8EF6-C3168A892973}" type="slidenum">
              <a:rPr lang="en-US" smtClean="0"/>
              <a:t>‹#›</a:t>
            </a:fld>
            <a:endParaRPr lang="en-US"/>
          </a:p>
        </p:txBody>
      </p:sp>
    </p:spTree>
    <p:extLst>
      <p:ext uri="{BB962C8B-B14F-4D97-AF65-F5344CB8AC3E}">
        <p14:creationId xmlns:p14="http://schemas.microsoft.com/office/powerpoint/2010/main" val="3518149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82EFD09-E7E7-40A7-8BFF-DD44DB9C5487}" type="datetimeFigureOut">
              <a:rPr lang="en-US" smtClean="0"/>
              <a:t>8/27/2024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E49365-041E-460D-8EF6-C3168A892973}" type="slidenum">
              <a:rPr lang="en-US" smtClean="0"/>
              <a:t>‹#›</a:t>
            </a:fld>
            <a:endParaRPr lang="en-US"/>
          </a:p>
        </p:txBody>
      </p:sp>
    </p:spTree>
    <p:extLst>
      <p:ext uri="{BB962C8B-B14F-4D97-AF65-F5344CB8AC3E}">
        <p14:creationId xmlns:p14="http://schemas.microsoft.com/office/powerpoint/2010/main" val="3126909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82EFD09-E7E7-40A7-8BFF-DD44DB9C5487}" type="datetimeFigureOut">
              <a:rPr lang="en-US" smtClean="0"/>
              <a:t>8/27/2024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E49365-041E-460D-8EF6-C3168A892973}" type="slidenum">
              <a:rPr lang="en-US" smtClean="0"/>
              <a:t>‹#›</a:t>
            </a:fld>
            <a:endParaRPr lang="en-US"/>
          </a:p>
        </p:txBody>
      </p:sp>
    </p:spTree>
    <p:extLst>
      <p:ext uri="{BB962C8B-B14F-4D97-AF65-F5344CB8AC3E}">
        <p14:creationId xmlns:p14="http://schemas.microsoft.com/office/powerpoint/2010/main" val="2014374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82EFD09-E7E7-40A7-8BFF-DD44DB9C5487}" type="datetimeFigureOut">
              <a:rPr lang="en-US" smtClean="0"/>
              <a:t>8/27/2024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AE49365-041E-460D-8EF6-C3168A892973}" type="slidenum">
              <a:rPr lang="en-US" smtClean="0"/>
              <a:t>‹#›</a:t>
            </a:fld>
            <a:endParaRPr lang="en-US"/>
          </a:p>
        </p:txBody>
      </p:sp>
    </p:spTree>
    <p:extLst>
      <p:ext uri="{BB962C8B-B14F-4D97-AF65-F5344CB8AC3E}">
        <p14:creationId xmlns:p14="http://schemas.microsoft.com/office/powerpoint/2010/main" val="1166602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2EFD09-E7E7-40A7-8BFF-DD44DB9C5487}" type="datetimeFigureOut">
              <a:rPr lang="en-US" smtClean="0"/>
              <a:t>8/27/2024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E49365-041E-460D-8EF6-C3168A892973}" type="slidenum">
              <a:rPr lang="en-US" smtClean="0"/>
              <a:t>‹#›</a:t>
            </a:fld>
            <a:endParaRPr lang="en-US"/>
          </a:p>
        </p:txBody>
      </p:sp>
    </p:spTree>
    <p:extLst>
      <p:ext uri="{BB962C8B-B14F-4D97-AF65-F5344CB8AC3E}">
        <p14:creationId xmlns:p14="http://schemas.microsoft.com/office/powerpoint/2010/main" val="2331725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82EFD09-E7E7-40A7-8BFF-DD44DB9C5487}" type="datetimeFigureOut">
              <a:rPr lang="en-US" smtClean="0"/>
              <a:t>8/27/2024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E49365-041E-460D-8EF6-C3168A892973}" type="slidenum">
              <a:rPr lang="en-US" smtClean="0"/>
              <a:t>‹#›</a:t>
            </a:fld>
            <a:endParaRPr lang="en-US"/>
          </a:p>
        </p:txBody>
      </p:sp>
    </p:spTree>
    <p:extLst>
      <p:ext uri="{BB962C8B-B14F-4D97-AF65-F5344CB8AC3E}">
        <p14:creationId xmlns:p14="http://schemas.microsoft.com/office/powerpoint/2010/main" val="3459480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82EFD09-E7E7-40A7-8BFF-DD44DB9C5487}" type="datetimeFigureOut">
              <a:rPr lang="en-US" smtClean="0"/>
              <a:t>8/27/2024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E49365-041E-460D-8EF6-C3168A892973}" type="slidenum">
              <a:rPr lang="en-US" smtClean="0"/>
              <a:t>‹#›</a:t>
            </a:fld>
            <a:endParaRPr lang="en-US"/>
          </a:p>
        </p:txBody>
      </p:sp>
    </p:spTree>
    <p:extLst>
      <p:ext uri="{BB962C8B-B14F-4D97-AF65-F5344CB8AC3E}">
        <p14:creationId xmlns:p14="http://schemas.microsoft.com/office/powerpoint/2010/main" val="665939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2EFD09-E7E7-40A7-8BFF-DD44DB9C5487}" type="datetimeFigureOut">
              <a:rPr lang="en-US" smtClean="0"/>
              <a:t>8/27/2024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E49365-041E-460D-8EF6-C3168A892973}" type="slidenum">
              <a:rPr lang="en-US" smtClean="0"/>
              <a:t>‹#›</a:t>
            </a:fld>
            <a:endParaRPr lang="en-US"/>
          </a:p>
        </p:txBody>
      </p:sp>
    </p:spTree>
    <p:extLst>
      <p:ext uri="{BB962C8B-B14F-4D97-AF65-F5344CB8AC3E}">
        <p14:creationId xmlns:p14="http://schemas.microsoft.com/office/powerpoint/2010/main" val="3265901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2EFD09-E7E7-40A7-8BFF-DD44DB9C5487}" type="datetimeFigureOut">
              <a:rPr lang="en-US" smtClean="0"/>
              <a:t>8/27/2024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E49365-041E-460D-8EF6-C3168A892973}" type="slidenum">
              <a:rPr lang="en-US" smtClean="0"/>
              <a:t>‹#›</a:t>
            </a:fld>
            <a:endParaRPr lang="en-US"/>
          </a:p>
        </p:txBody>
      </p:sp>
    </p:spTree>
    <p:extLst>
      <p:ext uri="{BB962C8B-B14F-4D97-AF65-F5344CB8AC3E}">
        <p14:creationId xmlns:p14="http://schemas.microsoft.com/office/powerpoint/2010/main" val="2671216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2EFD09-E7E7-40A7-8BFF-DD44DB9C5487}" type="datetimeFigureOut">
              <a:rPr lang="en-US" smtClean="0"/>
              <a:t>8/27/2024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E49365-041E-460D-8EF6-C3168A892973}" type="slidenum">
              <a:rPr lang="en-US" smtClean="0"/>
              <a:t>‹#›</a:t>
            </a:fld>
            <a:endParaRPr lang="en-US"/>
          </a:p>
        </p:txBody>
      </p:sp>
    </p:spTree>
    <p:extLst>
      <p:ext uri="{BB962C8B-B14F-4D97-AF65-F5344CB8AC3E}">
        <p14:creationId xmlns:p14="http://schemas.microsoft.com/office/powerpoint/2010/main" val="33721242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65018" y="1614453"/>
            <a:ext cx="10521538" cy="3990836"/>
          </a:xfrm>
          <a:prstGeom prst="rect">
            <a:avLst/>
          </a:prstGeom>
        </p:spPr>
        <p:txBody>
          <a:bodyPr wrap="square">
            <a:spAutoFit/>
          </a:bodyPr>
          <a:lstStyle/>
          <a:p>
            <a:pPr algn="ctr">
              <a:lnSpc>
                <a:spcPct val="200000"/>
              </a:lnSpc>
              <a:spcAft>
                <a:spcPts val="800"/>
              </a:spcAft>
            </a:pPr>
            <a:r>
              <a:rPr lang="en-US" sz="2400" b="1" dirty="0" smtClean="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CONTRIBUTION OF URBAN AGRICULTURE IN HOUSEHOLDS POVERTY REDUCTION IN MBEYA CITY: A CASE OF MWAKIBETE WARD </a:t>
            </a:r>
            <a:endParaRPr lang="en-US" sz="2000" b="1" dirty="0" smtClean="0">
              <a:effectLst/>
              <a:latin typeface="Calibri" panose="020F0502020204030204" pitchFamily="34" charset="0"/>
              <a:ea typeface="Calibri" panose="020F0502020204030204" pitchFamily="34" charset="0"/>
              <a:cs typeface="SimSun" panose="02010600030101010101" pitchFamily="2" charset="-122"/>
            </a:endParaRPr>
          </a:p>
          <a:p>
            <a:pPr algn="ctr">
              <a:lnSpc>
                <a:spcPct val="200000"/>
              </a:lnSpc>
              <a:spcAft>
                <a:spcPts val="800"/>
              </a:spcAft>
            </a:pPr>
            <a:r>
              <a:rPr lang="en-US" sz="2400" b="1" dirty="0" smtClean="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BY</a:t>
            </a:r>
            <a:endParaRPr lang="en-US" sz="2000" b="1" dirty="0" smtClean="0">
              <a:effectLst/>
              <a:latin typeface="Calibri" panose="020F0502020204030204" pitchFamily="34" charset="0"/>
              <a:ea typeface="Calibri" panose="020F0502020204030204" pitchFamily="34" charset="0"/>
              <a:cs typeface="SimSun" panose="02010600030101010101" pitchFamily="2" charset="-122"/>
            </a:endParaRPr>
          </a:p>
          <a:p>
            <a:pPr algn="ctr">
              <a:lnSpc>
                <a:spcPct val="200000"/>
              </a:lnSpc>
              <a:spcAft>
                <a:spcPts val="800"/>
              </a:spcAft>
            </a:pPr>
            <a:r>
              <a:rPr lang="en-US" sz="2400" b="1" dirty="0" smtClean="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ITIKA ALEX KALIBULE</a:t>
            </a:r>
            <a:endParaRPr lang="en-US" sz="2000" b="1" dirty="0">
              <a:effectLst/>
              <a:latin typeface="Calibri" panose="020F0502020204030204" pitchFamily="34" charset="0"/>
              <a:ea typeface="Calibri" panose="020F0502020204030204" pitchFamily="34" charset="0"/>
              <a:cs typeface="SimSun" panose="02010600030101010101" pitchFamily="2" charset="-122"/>
            </a:endParaRPr>
          </a:p>
        </p:txBody>
      </p:sp>
    </p:spTree>
    <p:extLst>
      <p:ext uri="{BB962C8B-B14F-4D97-AF65-F5344CB8AC3E}">
        <p14:creationId xmlns:p14="http://schemas.microsoft.com/office/powerpoint/2010/main" val="5926746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1036" y="-213756"/>
            <a:ext cx="5064913" cy="830997"/>
          </a:xfrm>
          <a:prstGeom prst="rect">
            <a:avLst/>
          </a:prstGeom>
        </p:spPr>
        <p:txBody>
          <a:bodyPr wrap="none">
            <a:spAutoFit/>
          </a:bodyPr>
          <a:lstStyle/>
          <a:p>
            <a:pPr marL="342900" indent="-343535" algn="just">
              <a:lnSpc>
                <a:spcPct val="200000"/>
              </a:lnSpc>
              <a:spcAft>
                <a:spcPts val="800"/>
              </a:spcAft>
              <a:tabLst>
                <a:tab pos="342900" algn="l"/>
              </a:tabLst>
            </a:pPr>
            <a:r>
              <a:rPr lang="en-US" sz="2400" b="1" dirty="0" smtClean="0">
                <a:solidFill>
                  <a:srgbClr val="000000"/>
                </a:solidFill>
                <a:effectLst/>
                <a:latin typeface="Times New Roman" panose="02020603050405020304" pitchFamily="18" charset="0"/>
                <a:ea typeface="Times New Roman" panose="02020603050405020304" pitchFamily="18" charset="0"/>
              </a:rPr>
              <a:t>STATEMENT OF THE PROBLEM</a:t>
            </a:r>
            <a:endParaRPr lang="en-US" sz="2400" b="1" dirty="0">
              <a:effectLst/>
              <a:latin typeface="Times New Roman" panose="02020603050405020304" pitchFamily="18" charset="0"/>
              <a:ea typeface="Times New Roman" panose="02020603050405020304" pitchFamily="18" charset="0"/>
            </a:endParaRPr>
          </a:p>
        </p:txBody>
      </p:sp>
      <p:sp>
        <p:nvSpPr>
          <p:cNvPr id="3" name="Rectangle 2"/>
          <p:cNvSpPr/>
          <p:nvPr/>
        </p:nvSpPr>
        <p:spPr>
          <a:xfrm>
            <a:off x="300843" y="617241"/>
            <a:ext cx="11582399" cy="6045053"/>
          </a:xfrm>
          <a:prstGeom prst="rect">
            <a:avLst/>
          </a:prstGeom>
        </p:spPr>
        <p:txBody>
          <a:bodyPr wrap="square">
            <a:spAutoFit/>
          </a:bodyPr>
          <a:lstStyle/>
          <a:p>
            <a:pPr algn="just">
              <a:lnSpc>
                <a:spcPct val="150000"/>
              </a:lnSpc>
              <a:spcBef>
                <a:spcPts val="1200"/>
              </a:spcBef>
              <a:spcAft>
                <a:spcPts val="800"/>
              </a:spcAft>
            </a:pPr>
            <a:r>
              <a:rPr lang="en-US" sz="20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Urban farming and poverty reduction have been the subject of numerous studies including that of </a:t>
            </a:r>
            <a:r>
              <a:rPr lang="en-US" sz="2000" dirty="0" err="1"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Mlozi</a:t>
            </a:r>
            <a:r>
              <a:rPr lang="en-US" sz="20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 </a:t>
            </a:r>
            <a:r>
              <a:rPr lang="en-US" sz="2000" i="1"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et al.</a:t>
            </a:r>
            <a:r>
              <a:rPr lang="en-US" sz="20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 (2015). The effect of urban farming on reducing poverty (</a:t>
            </a:r>
            <a:r>
              <a:rPr lang="en-US" sz="2000" dirty="0" err="1"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Mlozi</a:t>
            </a:r>
            <a:r>
              <a:rPr lang="en-US" sz="20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 </a:t>
            </a:r>
            <a:r>
              <a:rPr lang="en-US" sz="2000" i="1"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et al., </a:t>
            </a:r>
            <a:r>
              <a:rPr lang="en-US" sz="20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2015) and the influence of urban farming on household economies. According to </a:t>
            </a:r>
            <a:r>
              <a:rPr lang="en-US" sz="2000" dirty="0" err="1"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Mlozi</a:t>
            </a:r>
            <a:r>
              <a:rPr lang="en-US" sz="20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 </a:t>
            </a:r>
            <a:r>
              <a:rPr lang="en-US" sz="2000" i="1"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et al</a:t>
            </a:r>
            <a:r>
              <a:rPr lang="en-US" sz="20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 (2015), urban farming has the potential to provide food security and income to urban households. This is especially important for low-income households who cannot afford to buy food from the market. In addition, urban farming can provide employment opportunities for the urban poor. According to </a:t>
            </a:r>
            <a:r>
              <a:rPr lang="en-US" sz="2000" dirty="0" err="1"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Mougeot</a:t>
            </a:r>
            <a:r>
              <a:rPr lang="en-US" sz="20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 (2014), urban farming can provide employment opportunities for the urban poor who may not have access to formal employment. Moreover, urban farming can also contribute to the local economy by providing fresh produce to the local market. According to </a:t>
            </a:r>
            <a:r>
              <a:rPr lang="en-US" sz="2000" dirty="0" err="1"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Herweg</a:t>
            </a:r>
            <a:r>
              <a:rPr lang="en-US" sz="20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 and Schmitz (2021), urban farming can help reduce the cost of food in the market, thereby making it more affordable for low-income households. As a result, not much is known about how it helps urbanites reduce household poverty. Lack of knowledge regarding whether urban farming is a source of income that reduces or increases inequality may be more significant to the region authority. This study therefore aimed to close this disparity by assessing the contribution of urban farming in poverty reduction in </a:t>
            </a:r>
            <a:r>
              <a:rPr lang="en-US" sz="2000" dirty="0" err="1"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Mwakibete</a:t>
            </a:r>
            <a:r>
              <a:rPr lang="en-US" sz="20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 ward. </a:t>
            </a:r>
            <a:endParaRPr lang="en-US" sz="2000" dirty="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Tree>
    <p:extLst>
      <p:ext uri="{BB962C8B-B14F-4D97-AF65-F5344CB8AC3E}">
        <p14:creationId xmlns:p14="http://schemas.microsoft.com/office/powerpoint/2010/main" val="36907789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1872" y="-219255"/>
            <a:ext cx="4543231" cy="822789"/>
          </a:xfrm>
          <a:prstGeom prst="rect">
            <a:avLst/>
          </a:prstGeom>
        </p:spPr>
        <p:txBody>
          <a:bodyPr wrap="none">
            <a:spAutoFit/>
          </a:bodyPr>
          <a:lstStyle/>
          <a:p>
            <a:pPr marL="342900" indent="-343535" algn="just">
              <a:lnSpc>
                <a:spcPct val="200000"/>
              </a:lnSpc>
              <a:spcAft>
                <a:spcPts val="800"/>
              </a:spcAft>
              <a:tabLst>
                <a:tab pos="342900" algn="l"/>
              </a:tabLst>
            </a:pPr>
            <a:r>
              <a:rPr lang="en-US" sz="2800" b="1" dirty="0" smtClean="0">
                <a:solidFill>
                  <a:srgbClr val="000000"/>
                </a:solidFill>
                <a:latin typeface="Times New Roman" panose="02020603050405020304" pitchFamily="18" charset="0"/>
                <a:ea typeface="Times New Roman" panose="02020603050405020304" pitchFamily="18" charset="0"/>
              </a:rPr>
              <a:t>RESEARCH </a:t>
            </a:r>
            <a:r>
              <a:rPr lang="en-US" sz="2800" b="1" dirty="0" smtClean="0">
                <a:solidFill>
                  <a:srgbClr val="000000"/>
                </a:solidFill>
                <a:effectLst/>
                <a:latin typeface="Times New Roman" panose="02020603050405020304" pitchFamily="18" charset="0"/>
                <a:ea typeface="Times New Roman" panose="02020603050405020304" pitchFamily="18" charset="0"/>
              </a:rPr>
              <a:t>OBJECTIVES</a:t>
            </a:r>
            <a:endParaRPr lang="en-US" sz="2800" b="1" dirty="0">
              <a:effectLst/>
              <a:latin typeface="Times New Roman" panose="02020603050405020304" pitchFamily="18" charset="0"/>
              <a:ea typeface="Times New Roman" panose="02020603050405020304" pitchFamily="18" charset="0"/>
            </a:endParaRPr>
          </a:p>
        </p:txBody>
      </p:sp>
      <p:sp>
        <p:nvSpPr>
          <p:cNvPr id="3" name="Rectangle 2"/>
          <p:cNvSpPr/>
          <p:nvPr/>
        </p:nvSpPr>
        <p:spPr>
          <a:xfrm>
            <a:off x="423552" y="1229258"/>
            <a:ext cx="10537371" cy="4329390"/>
          </a:xfrm>
          <a:prstGeom prst="rect">
            <a:avLst/>
          </a:prstGeom>
        </p:spPr>
        <p:txBody>
          <a:bodyPr wrap="square">
            <a:spAutoFit/>
          </a:bodyPr>
          <a:lstStyle/>
          <a:p>
            <a:pPr marR="74295" algn="just">
              <a:spcBef>
                <a:spcPts val="1200"/>
              </a:spcBef>
              <a:spcAft>
                <a:spcPts val="800"/>
              </a:spcAft>
            </a:pPr>
            <a:r>
              <a:rPr lang="en-US" sz="2400" b="1" dirty="0">
                <a:solidFill>
                  <a:srgbClr val="000000"/>
                </a:solidFill>
                <a:latin typeface="Times New Roman" panose="02020603050405020304" pitchFamily="18" charset="0"/>
                <a:ea typeface="Palatino Linotype" panose="02040502050505030304" pitchFamily="18" charset="0"/>
                <a:cs typeface="Palatino Linotype" panose="02040502050505030304" pitchFamily="18" charset="0"/>
              </a:rPr>
              <a:t>G</a:t>
            </a:r>
            <a:r>
              <a:rPr lang="en-US" sz="2400" b="1"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eneral objective</a:t>
            </a:r>
            <a:endParaRPr lang="en-US" sz="2400" b="1"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endParaRPr>
          </a:p>
          <a:p>
            <a:pPr marR="74295" algn="just">
              <a:spcBef>
                <a:spcPts val="1200"/>
              </a:spcBef>
              <a:spcAft>
                <a:spcPts val="800"/>
              </a:spcAft>
            </a:pPr>
            <a:r>
              <a:rPr lang="en-US" sz="24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To assess the contribution</a:t>
            </a:r>
            <a:r>
              <a:rPr lang="en-US" sz="2400" spc="2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 </a:t>
            </a:r>
            <a:r>
              <a:rPr lang="en-US" sz="24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of urban agriculture in household poverty reduction in </a:t>
            </a:r>
            <a:r>
              <a:rPr lang="en-US" sz="2400" dirty="0" err="1"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Mbeya</a:t>
            </a:r>
            <a:r>
              <a:rPr lang="en-US" sz="24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 City.</a:t>
            </a:r>
            <a:endParaRPr lang="en-US" sz="2400" dirty="0" smtClean="0">
              <a:effectLst/>
              <a:latin typeface="Palatino Linotype" panose="02040502050505030304" pitchFamily="18" charset="0"/>
              <a:ea typeface="Palatino Linotype" panose="02040502050505030304" pitchFamily="18" charset="0"/>
              <a:cs typeface="Palatino Linotype" panose="02040502050505030304" pitchFamily="18" charset="0"/>
            </a:endParaRPr>
          </a:p>
          <a:p>
            <a:pPr marR="74295" algn="just">
              <a:spcBef>
                <a:spcPts val="1200"/>
              </a:spcBef>
              <a:spcAft>
                <a:spcPts val="800"/>
              </a:spcAft>
            </a:pPr>
            <a:r>
              <a:rPr lang="en-US" sz="2400" b="1"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Specific objectives </a:t>
            </a:r>
            <a:endParaRPr lang="en-US" sz="2400" dirty="0" smtClean="0">
              <a:effectLst/>
              <a:latin typeface="Palatino Linotype" panose="02040502050505030304" pitchFamily="18" charset="0"/>
              <a:ea typeface="Palatino Linotype" panose="02040502050505030304" pitchFamily="18" charset="0"/>
              <a:cs typeface="Palatino Linotype" panose="02040502050505030304" pitchFamily="18" charset="0"/>
            </a:endParaRPr>
          </a:p>
          <a:p>
            <a:pPr marL="342900" marR="73025" lvl="0" indent="-342900" algn="just">
              <a:spcBef>
                <a:spcPts val="1200"/>
              </a:spcBef>
              <a:spcAft>
                <a:spcPts val="800"/>
              </a:spcAft>
              <a:buFont typeface="+mj-lt"/>
              <a:buAutoNum type="romanLcPeriod"/>
            </a:pPr>
            <a:r>
              <a:rPr lang="en-US" sz="24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To examine urban agriculture practices in the study area</a:t>
            </a:r>
            <a:endParaRPr lang="en-US" sz="2400" dirty="0" smtClean="0">
              <a:effectLst/>
              <a:latin typeface="Palatino Linotype" panose="02040502050505030304" pitchFamily="18" charset="0"/>
              <a:ea typeface="Palatino Linotype" panose="02040502050505030304" pitchFamily="18" charset="0"/>
              <a:cs typeface="Palatino Linotype" panose="02040502050505030304" pitchFamily="18" charset="0"/>
            </a:endParaRPr>
          </a:p>
          <a:p>
            <a:pPr marL="342900" marR="73025" lvl="0" indent="-342900" algn="just">
              <a:spcBef>
                <a:spcPts val="1200"/>
              </a:spcBef>
              <a:spcAft>
                <a:spcPts val="800"/>
              </a:spcAft>
              <a:buFont typeface="+mj-lt"/>
              <a:buAutoNum type="romanLcPeriod"/>
            </a:pPr>
            <a:r>
              <a:rPr lang="en-US" sz="24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To examine income obtained from urban agriculture in the study area.</a:t>
            </a:r>
            <a:endParaRPr lang="en-US" sz="2400" dirty="0" smtClean="0">
              <a:effectLst/>
              <a:latin typeface="Palatino Linotype" panose="02040502050505030304" pitchFamily="18" charset="0"/>
              <a:ea typeface="Palatino Linotype" panose="02040502050505030304" pitchFamily="18" charset="0"/>
              <a:cs typeface="Palatino Linotype" panose="02040502050505030304" pitchFamily="18" charset="0"/>
            </a:endParaRPr>
          </a:p>
          <a:p>
            <a:pPr marL="342900" marR="73025" lvl="0" indent="-342900" algn="just">
              <a:spcBef>
                <a:spcPts val="1200"/>
              </a:spcBef>
              <a:spcAft>
                <a:spcPts val="800"/>
              </a:spcAft>
              <a:buFont typeface="+mj-lt"/>
              <a:buAutoNum type="romanLcPeriod"/>
            </a:pPr>
            <a:r>
              <a:rPr lang="en-US" sz="24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To determine the environmental concerns related to urban agriculture in the study area</a:t>
            </a:r>
            <a:endParaRPr lang="en-US" sz="2400" dirty="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Tree>
    <p:extLst>
      <p:ext uri="{BB962C8B-B14F-4D97-AF65-F5344CB8AC3E}">
        <p14:creationId xmlns:p14="http://schemas.microsoft.com/office/powerpoint/2010/main" val="33698954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292013994"/>
              </p:ext>
            </p:extLst>
          </p:nvPr>
        </p:nvGraphicFramePr>
        <p:xfrm>
          <a:off x="154379" y="617515"/>
          <a:ext cx="11899076" cy="5896212"/>
        </p:xfrm>
        <a:graphic>
          <a:graphicData uri="http://schemas.openxmlformats.org/drawingml/2006/table">
            <a:tbl>
              <a:tblPr firstRow="1" bandRow="1">
                <a:tableStyleId>{2D5ABB26-0587-4C30-8999-92F81FD0307C}</a:tableStyleId>
              </a:tblPr>
              <a:tblGrid>
                <a:gridCol w="5949538"/>
                <a:gridCol w="5949538"/>
              </a:tblGrid>
              <a:tr h="670314">
                <a:tc>
                  <a:txBody>
                    <a:bodyPr/>
                    <a:lstStyle/>
                    <a:p>
                      <a:r>
                        <a:rPr lang="en-US" sz="2400" b="1" kern="1200" dirty="0" smtClean="0">
                          <a:solidFill>
                            <a:schemeClr val="tx1"/>
                          </a:solidFill>
                          <a:effectLst/>
                          <a:latin typeface="Times New Roman" panose="02020603050405020304" pitchFamily="18" charset="0"/>
                          <a:ea typeface="+mn-ea"/>
                          <a:cs typeface="Times New Roman" panose="02020603050405020304" pitchFamily="18" charset="0"/>
                        </a:rPr>
                        <a:t>Research Questions</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smtClean="0">
                          <a:latin typeface="Times New Roman" panose="02020603050405020304" pitchFamily="18" charset="0"/>
                          <a:cs typeface="Times New Roman" panose="02020603050405020304" pitchFamily="18" charset="0"/>
                        </a:rPr>
                        <a:t>Variables</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8904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kern="1200" dirty="0" smtClean="0">
                          <a:solidFill>
                            <a:schemeClr val="tx1"/>
                          </a:solidFill>
                          <a:effectLst/>
                          <a:latin typeface="Times New Roman" panose="02020603050405020304" pitchFamily="18" charset="0"/>
                          <a:ea typeface="+mn-ea"/>
                          <a:cs typeface="Times New Roman" panose="02020603050405020304" pitchFamily="18" charset="0"/>
                        </a:rPr>
                        <a:t>What are the urban agriculture practices in the study area?</a:t>
                      </a:r>
                    </a:p>
                    <a:p>
                      <a:endParaRPr lang="en-US" sz="2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2400" kern="1200" dirty="0" smtClean="0">
                          <a:solidFill>
                            <a:schemeClr val="tx1"/>
                          </a:solidFill>
                          <a:effectLst/>
                          <a:latin typeface="Times New Roman" panose="02020603050405020304" pitchFamily="18" charset="0"/>
                          <a:ea typeface="+mn-ea"/>
                          <a:cs typeface="Times New Roman" panose="02020603050405020304" pitchFamily="18" charset="0"/>
                        </a:rPr>
                        <a:t>Types of crops and livestock </a:t>
                      </a:r>
                    </a:p>
                    <a:p>
                      <a:pPr marL="285750" lvl="0" indent="-285750">
                        <a:buFont typeface="Arial" panose="020B0604020202020204" pitchFamily="34" charset="0"/>
                        <a:buChar char="•"/>
                      </a:pPr>
                      <a:r>
                        <a:rPr lang="en-US" sz="2400" kern="1200" dirty="0" smtClean="0">
                          <a:solidFill>
                            <a:schemeClr val="tx1"/>
                          </a:solidFill>
                          <a:effectLst/>
                          <a:latin typeface="Times New Roman" panose="02020603050405020304" pitchFamily="18" charset="0"/>
                          <a:ea typeface="+mn-ea"/>
                          <a:cs typeface="Times New Roman" panose="02020603050405020304" pitchFamily="18" charset="0"/>
                        </a:rPr>
                        <a:t>Practices for crops and livestock used</a:t>
                      </a:r>
                    </a:p>
                    <a:p>
                      <a:pPr marL="285750" lvl="0" indent="-285750">
                        <a:buFont typeface="Arial" panose="020B0604020202020204" pitchFamily="34" charset="0"/>
                        <a:buChar char="•"/>
                      </a:pPr>
                      <a:r>
                        <a:rPr lang="en-US" sz="2400" kern="1200" dirty="0" smtClean="0">
                          <a:solidFill>
                            <a:schemeClr val="tx1"/>
                          </a:solidFill>
                          <a:effectLst/>
                          <a:latin typeface="Times New Roman" panose="02020603050405020304" pitchFamily="18" charset="0"/>
                          <a:ea typeface="+mn-ea"/>
                          <a:cs typeface="Times New Roman" panose="02020603050405020304" pitchFamily="18" charset="0"/>
                        </a:rPr>
                        <a:t>Yields for crops and livestock kept</a:t>
                      </a:r>
                    </a:p>
                    <a:p>
                      <a:pPr marL="285750" lvl="0" indent="-285750">
                        <a:buFont typeface="Arial" panose="020B0604020202020204" pitchFamily="34" charset="0"/>
                        <a:buChar char="•"/>
                      </a:pPr>
                      <a:r>
                        <a:rPr lang="en-US" sz="2400" kern="1200" dirty="0" smtClean="0">
                          <a:solidFill>
                            <a:schemeClr val="tx1"/>
                          </a:solidFill>
                          <a:effectLst/>
                          <a:latin typeface="Times New Roman" panose="02020603050405020304" pitchFamily="18" charset="0"/>
                          <a:ea typeface="+mn-ea"/>
                          <a:cs typeface="Times New Roman" panose="02020603050405020304" pitchFamily="18" charset="0"/>
                        </a:rPr>
                        <a:t>Marketing from urban agriculture products</a:t>
                      </a:r>
                    </a:p>
                    <a:p>
                      <a:endParaRPr lang="en-US" sz="2400"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652829">
                <a:tc>
                  <a:txBody>
                    <a:bodyPr/>
                    <a:lstStyle/>
                    <a:p>
                      <a:pPr lvl="0"/>
                      <a:r>
                        <a:rPr lang="en-US" sz="2400" kern="1200" dirty="0" smtClean="0">
                          <a:solidFill>
                            <a:schemeClr val="tx1"/>
                          </a:solidFill>
                          <a:effectLst/>
                          <a:latin typeface="Times New Roman" panose="02020603050405020304" pitchFamily="18" charset="0"/>
                          <a:ea typeface="+mn-ea"/>
                          <a:cs typeface="Times New Roman" panose="02020603050405020304" pitchFamily="18" charset="0"/>
                        </a:rPr>
                        <a:t> What is the income obtained from urban agriculture in the study area?</a:t>
                      </a:r>
                      <a:endParaRPr lang="en-US" sz="2400" kern="1200" dirty="0">
                        <a:solidFill>
                          <a:schemeClr val="tx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2400" kern="1200" dirty="0" smtClean="0">
                          <a:solidFill>
                            <a:schemeClr val="tx1"/>
                          </a:solidFill>
                          <a:effectLst/>
                          <a:latin typeface="Times New Roman" panose="02020603050405020304" pitchFamily="18" charset="0"/>
                          <a:ea typeface="+mn-ea"/>
                          <a:cs typeface="Times New Roman" panose="02020603050405020304" pitchFamily="18" charset="0"/>
                        </a:rPr>
                        <a:t>Income from urban agriculture</a:t>
                      </a:r>
                    </a:p>
                    <a:p>
                      <a:pPr marL="285750" lvl="0" indent="-285750">
                        <a:buFont typeface="Arial" panose="020B0604020202020204" pitchFamily="34" charset="0"/>
                        <a:buChar char="•"/>
                      </a:pPr>
                      <a:r>
                        <a:rPr lang="en-US" sz="2400" kern="1200" dirty="0" smtClean="0">
                          <a:solidFill>
                            <a:schemeClr val="tx1"/>
                          </a:solidFill>
                          <a:effectLst/>
                          <a:latin typeface="Times New Roman" panose="02020603050405020304" pitchFamily="18" charset="0"/>
                          <a:ea typeface="+mn-ea"/>
                          <a:cs typeface="Times New Roman" panose="02020603050405020304" pitchFamily="18" charset="0"/>
                        </a:rPr>
                        <a:t>Income from other sources </a:t>
                      </a:r>
                    </a:p>
                    <a:p>
                      <a:pPr marL="285750" lvl="0" indent="-285750">
                        <a:buFont typeface="Arial" panose="020B0604020202020204" pitchFamily="34" charset="0"/>
                        <a:buChar char="•"/>
                      </a:pPr>
                      <a:r>
                        <a:rPr lang="en-US" sz="2400" kern="1200" dirty="0" smtClean="0">
                          <a:solidFill>
                            <a:schemeClr val="tx1"/>
                          </a:solidFill>
                          <a:effectLst/>
                          <a:latin typeface="Times New Roman" panose="02020603050405020304" pitchFamily="18" charset="0"/>
                          <a:ea typeface="+mn-ea"/>
                          <a:cs typeface="Times New Roman" panose="02020603050405020304" pitchFamily="18" charset="0"/>
                        </a:rPr>
                        <a:t>Expenditure from the income</a:t>
                      </a:r>
                      <a:endParaRPr lang="en-US" sz="240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652829">
                <a:tc>
                  <a:txBody>
                    <a:bodyPr/>
                    <a:lstStyle/>
                    <a:p>
                      <a:pPr lvl="0"/>
                      <a:r>
                        <a:rPr lang="en-US" sz="2400" kern="1200" dirty="0" smtClean="0">
                          <a:solidFill>
                            <a:schemeClr val="tx1"/>
                          </a:solidFill>
                          <a:effectLst/>
                          <a:latin typeface="Times New Roman" panose="02020603050405020304" pitchFamily="18" charset="0"/>
                          <a:ea typeface="+mn-ea"/>
                          <a:cs typeface="Times New Roman" panose="02020603050405020304" pitchFamily="18" charset="0"/>
                        </a:rPr>
                        <a:t>What are the environmental concerns related to urban agriculture in the study area?</a:t>
                      </a:r>
                      <a:endParaRPr lang="en-US" sz="2400" kern="1200" dirty="0">
                        <a:solidFill>
                          <a:schemeClr val="tx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2400" kern="1200" dirty="0" smtClean="0">
                          <a:solidFill>
                            <a:schemeClr val="tx1"/>
                          </a:solidFill>
                          <a:effectLst/>
                          <a:latin typeface="Times New Roman" panose="02020603050405020304" pitchFamily="18" charset="0"/>
                          <a:ea typeface="+mn-ea"/>
                          <a:cs typeface="Times New Roman" panose="02020603050405020304" pitchFamily="18" charset="0"/>
                        </a:rPr>
                        <a:t>Environmental pollution</a:t>
                      </a:r>
                    </a:p>
                    <a:p>
                      <a:pPr marL="285750" lvl="0" indent="-285750">
                        <a:buFont typeface="Arial" panose="020B0604020202020204" pitchFamily="34" charset="0"/>
                        <a:buChar char="•"/>
                      </a:pPr>
                      <a:r>
                        <a:rPr lang="en-US" sz="2400" kern="1200" dirty="0" smtClean="0">
                          <a:solidFill>
                            <a:schemeClr val="tx1"/>
                          </a:solidFill>
                          <a:effectLst/>
                          <a:latin typeface="Times New Roman" panose="02020603050405020304" pitchFamily="18" charset="0"/>
                          <a:ea typeface="+mn-ea"/>
                          <a:cs typeface="Times New Roman" panose="02020603050405020304" pitchFamily="18" charset="0"/>
                        </a:rPr>
                        <a:t>Availability of space for urban farming</a:t>
                      </a:r>
                    </a:p>
                    <a:p>
                      <a:pPr marL="285750" lvl="0" indent="-285750">
                        <a:buFont typeface="Arial" panose="020B0604020202020204" pitchFamily="34" charset="0"/>
                        <a:buChar char="•"/>
                      </a:pPr>
                      <a:r>
                        <a:rPr lang="en-US" sz="2400" kern="1200" dirty="0" smtClean="0">
                          <a:solidFill>
                            <a:schemeClr val="tx1"/>
                          </a:solidFill>
                          <a:effectLst/>
                          <a:latin typeface="Times New Roman" panose="02020603050405020304" pitchFamily="18" charset="0"/>
                          <a:ea typeface="+mn-ea"/>
                          <a:cs typeface="Times New Roman" panose="02020603050405020304" pitchFamily="18" charset="0"/>
                        </a:rPr>
                        <a:t>Regulations for urban agric.</a:t>
                      </a:r>
                      <a:endParaRPr lang="en-US" sz="240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3" name="Rectangle 2"/>
          <p:cNvSpPr/>
          <p:nvPr/>
        </p:nvSpPr>
        <p:spPr>
          <a:xfrm>
            <a:off x="3822547" y="0"/>
            <a:ext cx="3770584" cy="461665"/>
          </a:xfrm>
          <a:prstGeom prst="rect">
            <a:avLst/>
          </a:prstGeom>
        </p:spPr>
        <p:txBody>
          <a:bodyPr wrap="none">
            <a:spAutoFit/>
          </a:bodyPr>
          <a:lstStyle/>
          <a:p>
            <a:r>
              <a:rPr lang="en-US" sz="2400" b="1"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RESEARCH QUESTIONS</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19902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0633" y="511381"/>
            <a:ext cx="11685320" cy="6045053"/>
          </a:xfrm>
          <a:prstGeom prst="rect">
            <a:avLst/>
          </a:prstGeom>
        </p:spPr>
        <p:txBody>
          <a:bodyPr wrap="square">
            <a:spAutoFit/>
          </a:bodyPr>
          <a:lstStyle/>
          <a:p>
            <a:pPr marR="73025" algn="just">
              <a:lnSpc>
                <a:spcPct val="150000"/>
              </a:lnSpc>
              <a:spcBef>
                <a:spcPts val="1200"/>
              </a:spcBef>
              <a:spcAft>
                <a:spcPts val="800"/>
              </a:spcAft>
            </a:pPr>
            <a:r>
              <a:rPr lang="en-US" sz="20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The study on the contribution of urban agriculture to household poverty reduction in </a:t>
            </a:r>
            <a:r>
              <a:rPr lang="en-US" sz="2000" dirty="0" err="1"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Mbeya</a:t>
            </a:r>
            <a:r>
              <a:rPr lang="en-US" sz="20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 City is significant in many ways. Firstly, poverty is a major global problem that affects many people, and this study seeks to identify a potential solution to this problem. The findings of this study can be used to inform policy decisions that aim to alleviate poverty in urban areas. Secondly, the study provides insight into the role of agriculture in the urban economy. Urban agriculture is a sector that is often overlooked, and this study sheds light on its importance in the livelihoods of urban residents. Thirdly, the study highlights the potential of urban agriculture to improve food security in urban areas. With rising urbanization and increasing food insecurity, urban agriculture can play a crucial role in ensuring that urban residents have access to fresh and healthy food. Finally, the study provides an opportunity to explore the gender dynamics of urban agriculture. Women are often overlooked in agriculture, and this study can provide insights into the role of women in urban agriculture and their contribution to household poverty reduction. Overall, the study on the contribution of urban agriculture to household poverty reduction in </a:t>
            </a:r>
            <a:r>
              <a:rPr lang="en-US" sz="2000" dirty="0" err="1"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Mbeya</a:t>
            </a:r>
            <a:r>
              <a:rPr lang="en-US" sz="2000" dirty="0" smtClean="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 City is significant in providing insights into poverty reduction, urban agriculture, food security, and gender dynamics.</a:t>
            </a:r>
            <a:endParaRPr lang="en-US" sz="2000" dirty="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sp>
        <p:nvSpPr>
          <p:cNvPr id="3" name="Rectangle 2"/>
          <p:cNvSpPr/>
          <p:nvPr/>
        </p:nvSpPr>
        <p:spPr>
          <a:xfrm>
            <a:off x="2908568" y="-225269"/>
            <a:ext cx="5638595" cy="822789"/>
          </a:xfrm>
          <a:prstGeom prst="rect">
            <a:avLst/>
          </a:prstGeom>
        </p:spPr>
        <p:txBody>
          <a:bodyPr wrap="none">
            <a:spAutoFit/>
          </a:bodyPr>
          <a:lstStyle/>
          <a:p>
            <a:pPr marL="342900" indent="-343535" algn="just">
              <a:lnSpc>
                <a:spcPct val="200000"/>
              </a:lnSpc>
              <a:spcAft>
                <a:spcPts val="800"/>
              </a:spcAft>
              <a:tabLst>
                <a:tab pos="342900" algn="l"/>
              </a:tabLst>
            </a:pPr>
            <a:r>
              <a:rPr lang="en-US" sz="2800" b="1" dirty="0" smtClean="0">
                <a:solidFill>
                  <a:srgbClr val="000000"/>
                </a:solidFill>
                <a:effectLst/>
                <a:latin typeface="Times New Roman" panose="02020603050405020304" pitchFamily="18" charset="0"/>
                <a:ea typeface="Times New Roman" panose="02020603050405020304" pitchFamily="18" charset="0"/>
              </a:rPr>
              <a:t>SIGNIFICANCE OF THE STUDY </a:t>
            </a:r>
            <a:endParaRPr lang="en-US" sz="2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0303246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0617" y="-178129"/>
            <a:ext cx="4504503" cy="800219"/>
          </a:xfrm>
          <a:prstGeom prst="rect">
            <a:avLst/>
          </a:prstGeom>
        </p:spPr>
        <p:txBody>
          <a:bodyPr wrap="none">
            <a:spAutoFit/>
          </a:bodyPr>
          <a:lstStyle/>
          <a:p>
            <a:pPr marL="342900" indent="-343535" algn="just">
              <a:lnSpc>
                <a:spcPct val="200000"/>
              </a:lnSpc>
              <a:spcAft>
                <a:spcPts val="800"/>
              </a:spcAft>
              <a:tabLst>
                <a:tab pos="342900" algn="l"/>
              </a:tabLst>
            </a:pPr>
            <a:r>
              <a:rPr lang="en-US" sz="2300" b="1" dirty="0" smtClean="0">
                <a:solidFill>
                  <a:srgbClr val="000000"/>
                </a:solidFill>
                <a:effectLst/>
                <a:latin typeface="Times New Roman" panose="02020603050405020304" pitchFamily="18" charset="0"/>
                <a:ea typeface="Times New Roman" panose="02020603050405020304" pitchFamily="18" charset="0"/>
              </a:rPr>
              <a:t>CONCEPTUAL FRAMEWORK</a:t>
            </a:r>
            <a:endParaRPr lang="en-US" sz="2300" b="1" dirty="0">
              <a:effectLst/>
              <a:latin typeface="Times New Roman" panose="02020603050405020304" pitchFamily="18" charset="0"/>
              <a:ea typeface="Times New Roman" panose="02020603050405020304" pitchFamily="18" charset="0"/>
            </a:endParaRPr>
          </a:p>
        </p:txBody>
      </p:sp>
      <p:grpSp>
        <p:nvGrpSpPr>
          <p:cNvPr id="16" name="Group 15"/>
          <p:cNvGrpSpPr>
            <a:grpSpLocks/>
          </p:cNvGrpSpPr>
          <p:nvPr/>
        </p:nvGrpSpPr>
        <p:grpSpPr bwMode="auto">
          <a:xfrm>
            <a:off x="665018" y="748146"/>
            <a:ext cx="9987147" cy="5617028"/>
            <a:chOff x="-51314" y="-49211"/>
            <a:chExt cx="7297593" cy="4340913"/>
          </a:xfrm>
        </p:grpSpPr>
        <p:sp>
          <p:nvSpPr>
            <p:cNvPr id="17" name="Rectangle 16"/>
            <p:cNvSpPr>
              <a:spLocks noChangeArrowheads="1"/>
            </p:cNvSpPr>
            <p:nvPr/>
          </p:nvSpPr>
          <p:spPr bwMode="auto">
            <a:xfrm>
              <a:off x="0" y="9525"/>
              <a:ext cx="2204780" cy="361950"/>
            </a:xfrm>
            <a:prstGeom prst="rect">
              <a:avLst/>
            </a:prstGeom>
            <a:solidFill>
              <a:srgbClr val="FFFFFF"/>
            </a:solidFill>
            <a:ln w="25400">
              <a:solidFill>
                <a:srgbClr val="000000"/>
              </a:solidFill>
              <a:round/>
              <a:headEnd/>
              <a:tailEnd/>
            </a:ln>
          </p:spPr>
          <p:txBody>
            <a:bodyPr rot="0" vert="horz" wrap="square" lIns="91440" tIns="45720" rIns="91440" bIns="45720" anchor="ctr" anchorCtr="0" upright="1">
              <a:noAutofit/>
            </a:bodyPr>
            <a:lstStyle/>
            <a:p>
              <a:pPr algn="ctr">
                <a:lnSpc>
                  <a:spcPct val="106000"/>
                </a:lnSpc>
                <a:spcAft>
                  <a:spcPts val="800"/>
                </a:spcAft>
              </a:pPr>
              <a:r>
                <a:rPr lang="en-US" sz="1600" b="1"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INDEPENDENT VARIABLES</a:t>
              </a:r>
              <a:endParaRPr lang="en-US" sz="16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8" name="Rectangle 17"/>
            <p:cNvSpPr>
              <a:spLocks noChangeArrowheads="1"/>
            </p:cNvSpPr>
            <p:nvPr/>
          </p:nvSpPr>
          <p:spPr bwMode="auto">
            <a:xfrm>
              <a:off x="4938123" y="-49211"/>
              <a:ext cx="2308156" cy="361950"/>
            </a:xfrm>
            <a:prstGeom prst="rect">
              <a:avLst/>
            </a:prstGeom>
            <a:solidFill>
              <a:srgbClr val="FFFFFF"/>
            </a:solidFill>
            <a:ln w="25400">
              <a:solidFill>
                <a:srgbClr val="000000"/>
              </a:solidFill>
              <a:round/>
              <a:headEnd/>
              <a:tailEnd/>
            </a:ln>
          </p:spPr>
          <p:txBody>
            <a:bodyPr rot="0" vert="horz" wrap="square" lIns="91440" tIns="45720" rIns="91440" bIns="45720" anchor="ctr" anchorCtr="0" upright="1">
              <a:noAutofit/>
            </a:bodyPr>
            <a:lstStyle/>
            <a:p>
              <a:pPr algn="ctr">
                <a:lnSpc>
                  <a:spcPct val="106000"/>
                </a:lnSpc>
                <a:spcAft>
                  <a:spcPts val="800"/>
                </a:spcAft>
              </a:pPr>
              <a:r>
                <a:rPr lang="en-US" b="1"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DEPENDENT VARIABLE </a:t>
              </a:r>
              <a:endParaRPr lang="en-US"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9" name="Rectangle 18"/>
            <p:cNvSpPr>
              <a:spLocks noChangeArrowheads="1"/>
            </p:cNvSpPr>
            <p:nvPr/>
          </p:nvSpPr>
          <p:spPr bwMode="auto">
            <a:xfrm>
              <a:off x="5376483" y="1370652"/>
              <a:ext cx="1721702" cy="1479489"/>
            </a:xfrm>
            <a:prstGeom prst="rect">
              <a:avLst/>
            </a:prstGeom>
            <a:solidFill>
              <a:srgbClr val="FFFFFF"/>
            </a:solidFill>
            <a:ln w="25400">
              <a:solidFill>
                <a:srgbClr val="000000"/>
              </a:solidFill>
              <a:round/>
              <a:headEnd/>
              <a:tailEnd/>
            </a:ln>
          </p:spPr>
          <p:txBody>
            <a:bodyPr rot="0" vert="horz" wrap="square" lIns="91440" tIns="45720" rIns="91440" bIns="45720" anchor="ctr" anchorCtr="0" upright="1">
              <a:noAutofit/>
            </a:bodyPr>
            <a:lstStyle/>
            <a:p>
              <a:pPr algn="ctr">
                <a:lnSpc>
                  <a:spcPct val="106000"/>
                </a:lnSpc>
                <a:spcAft>
                  <a:spcPts val="800"/>
                </a:spcAft>
              </a:pPr>
              <a:r>
                <a:rPr lang="en-US" dirty="0">
                  <a:effectLst/>
                  <a:latin typeface="Times New Roman" panose="02020603050405020304" pitchFamily="18" charset="0"/>
                  <a:ea typeface="Calibri" panose="020F0502020204030204" pitchFamily="34" charset="0"/>
                  <a:cs typeface="SimSun" panose="02010600030101010101" pitchFamily="2" charset="-122"/>
                </a:rPr>
                <a:t>Households poverty reduction</a:t>
              </a:r>
              <a:endParaRPr lang="en-US" sz="1600" dirty="0">
                <a:effectLst/>
                <a:latin typeface="Calibri" panose="020F0502020204030204" pitchFamily="34" charset="0"/>
                <a:ea typeface="Calibri" panose="020F0502020204030204" pitchFamily="34" charset="0"/>
                <a:cs typeface="SimSun" panose="02010600030101010101" pitchFamily="2" charset="-122"/>
              </a:endParaRPr>
            </a:p>
            <a:p>
              <a:pPr algn="ctr">
                <a:lnSpc>
                  <a:spcPct val="107000"/>
                </a:lnSpc>
                <a:spcAft>
                  <a:spcPts val="800"/>
                </a:spcAft>
              </a:pPr>
              <a:r>
                <a:rPr lang="en-US" dirty="0">
                  <a:effectLst/>
                  <a:latin typeface="Times New Roman" panose="02020603050405020304" pitchFamily="18" charset="0"/>
                  <a:ea typeface="Calibri" panose="020F0502020204030204" pitchFamily="34" charset="0"/>
                  <a:cs typeface="SimSun" panose="02010600030101010101" pitchFamily="2" charset="-122"/>
                </a:rPr>
                <a:t> </a:t>
              </a:r>
              <a:endParaRPr lang="en-US" sz="1600" dirty="0">
                <a:effectLst/>
                <a:latin typeface="Calibri" panose="020F0502020204030204" pitchFamily="34" charset="0"/>
                <a:ea typeface="Calibri" panose="020F0502020204030204" pitchFamily="34" charset="0"/>
                <a:cs typeface="SimSun" panose="02010600030101010101" pitchFamily="2" charset="-122"/>
              </a:endParaRPr>
            </a:p>
          </p:txBody>
        </p:sp>
        <p:sp>
          <p:nvSpPr>
            <p:cNvPr id="20" name="Rectangle 19"/>
            <p:cNvSpPr>
              <a:spLocks noChangeArrowheads="1"/>
            </p:cNvSpPr>
            <p:nvPr/>
          </p:nvSpPr>
          <p:spPr bwMode="auto">
            <a:xfrm>
              <a:off x="-51314" y="962800"/>
              <a:ext cx="2582883" cy="3328902"/>
            </a:xfrm>
            <a:prstGeom prst="rect">
              <a:avLst/>
            </a:prstGeom>
            <a:solidFill>
              <a:srgbClr val="FFFFFF"/>
            </a:solidFill>
            <a:ln w="25400">
              <a:solidFill>
                <a:srgbClr val="000000"/>
              </a:solidFill>
              <a:round/>
              <a:headEnd/>
              <a:tailEnd/>
            </a:ln>
          </p:spPr>
          <p:txBody>
            <a:bodyPr rot="0" vert="horz" wrap="square" lIns="91440" tIns="45720" rIns="91440" bIns="45720" anchor="t" anchorCtr="0" upright="1">
              <a:noAutofit/>
            </a:bodyPr>
            <a:lstStyle/>
            <a:p>
              <a:pPr marL="342900" lvl="0" indent="-342900">
                <a:lnSpc>
                  <a:spcPct val="106000"/>
                </a:lnSpc>
                <a:spcAft>
                  <a:spcPts val="0"/>
                </a:spcAft>
                <a:buFont typeface="Symbol" panose="05050102010706020507" pitchFamily="18" charset="2"/>
                <a:buChar char=""/>
              </a:pPr>
              <a:r>
                <a:rPr lang="en-US" sz="1600" dirty="0">
                  <a:solidFill>
                    <a:srgbClr val="000000"/>
                  </a:solidFill>
                  <a:effectLst/>
                  <a:latin typeface="Times New Roman" panose="02020603050405020304" pitchFamily="18" charset="0"/>
                  <a:ea typeface="Times New Roman" panose="02020603050405020304" pitchFamily="18" charset="0"/>
                  <a:cs typeface="SimSun" panose="02010600030101010101" pitchFamily="2" charset="-122"/>
                </a:rPr>
                <a:t>Types of crops and livestock </a:t>
              </a:r>
              <a:endParaRPr lang="en-US" sz="1600" dirty="0">
                <a:effectLst/>
                <a:latin typeface="Calibri" panose="020F0502020204030204" pitchFamily="34" charset="0"/>
                <a:ea typeface="Yu Mincho"/>
                <a:cs typeface="SimSun" panose="02010600030101010101" pitchFamily="2" charset="-122"/>
              </a:endParaRPr>
            </a:p>
            <a:p>
              <a:pPr marL="342900" lvl="0" indent="-342900">
                <a:lnSpc>
                  <a:spcPct val="106000"/>
                </a:lnSpc>
                <a:spcAft>
                  <a:spcPts val="0"/>
                </a:spcAft>
                <a:buFont typeface="Symbol" panose="05050102010706020507" pitchFamily="18" charset="2"/>
                <a:buChar char=""/>
              </a:pPr>
              <a:r>
                <a:rPr lang="en-US" sz="1600" dirty="0">
                  <a:solidFill>
                    <a:srgbClr val="000000"/>
                  </a:solidFill>
                  <a:effectLst/>
                  <a:latin typeface="Times New Roman" panose="02020603050405020304" pitchFamily="18" charset="0"/>
                  <a:ea typeface="Times New Roman" panose="02020603050405020304" pitchFamily="18" charset="0"/>
                  <a:cs typeface="SimSun" panose="02010600030101010101" pitchFamily="2" charset="-122"/>
                </a:rPr>
                <a:t>Practices for crops and livestock used</a:t>
              </a:r>
              <a:endParaRPr lang="en-US" sz="1600" dirty="0">
                <a:effectLst/>
                <a:latin typeface="Calibri" panose="020F0502020204030204" pitchFamily="34" charset="0"/>
                <a:ea typeface="Yu Mincho"/>
                <a:cs typeface="SimSun" panose="02010600030101010101" pitchFamily="2" charset="-122"/>
              </a:endParaRPr>
            </a:p>
            <a:p>
              <a:pPr marL="342900" lvl="0" indent="-342900">
                <a:lnSpc>
                  <a:spcPct val="106000"/>
                </a:lnSpc>
                <a:spcAft>
                  <a:spcPts val="0"/>
                </a:spcAft>
                <a:buFont typeface="Symbol" panose="05050102010706020507" pitchFamily="18" charset="2"/>
                <a:buChar char=""/>
              </a:pPr>
              <a:r>
                <a:rPr lang="en-US" sz="1600" dirty="0">
                  <a:solidFill>
                    <a:srgbClr val="000000"/>
                  </a:solidFill>
                  <a:effectLst/>
                  <a:latin typeface="Times New Roman" panose="02020603050405020304" pitchFamily="18" charset="0"/>
                  <a:ea typeface="Times New Roman" panose="02020603050405020304" pitchFamily="18" charset="0"/>
                  <a:cs typeface="SimSun" panose="02010600030101010101" pitchFamily="2" charset="-122"/>
                </a:rPr>
                <a:t>Yields for crops and livestock kept</a:t>
              </a:r>
              <a:endParaRPr lang="en-US" sz="1600" dirty="0">
                <a:effectLst/>
                <a:latin typeface="Calibri" panose="020F0502020204030204" pitchFamily="34" charset="0"/>
                <a:ea typeface="Yu Mincho"/>
                <a:cs typeface="SimSun" panose="02010600030101010101" pitchFamily="2" charset="-122"/>
              </a:endParaRPr>
            </a:p>
            <a:p>
              <a:pPr marL="342900" lvl="0" indent="-342900">
                <a:lnSpc>
                  <a:spcPct val="106000"/>
                </a:lnSpc>
                <a:spcAft>
                  <a:spcPts val="0"/>
                </a:spcAft>
                <a:buFont typeface="Symbol" panose="05050102010706020507" pitchFamily="18" charset="2"/>
                <a:buChar char=""/>
              </a:pPr>
              <a:r>
                <a:rPr lang="en-US" sz="1600" dirty="0">
                  <a:solidFill>
                    <a:srgbClr val="000000"/>
                  </a:solidFill>
                  <a:effectLst/>
                  <a:latin typeface="Times New Roman" panose="02020603050405020304" pitchFamily="18" charset="0"/>
                  <a:ea typeface="Times New Roman" panose="02020603050405020304" pitchFamily="18" charset="0"/>
                  <a:cs typeface="SimSun" panose="02010600030101010101" pitchFamily="2" charset="-122"/>
                </a:rPr>
                <a:t>Marketing from urban agriculture products</a:t>
              </a:r>
              <a:endParaRPr lang="en-US" sz="1600" dirty="0">
                <a:effectLst/>
                <a:latin typeface="Calibri" panose="020F0502020204030204" pitchFamily="34" charset="0"/>
                <a:ea typeface="Yu Mincho"/>
                <a:cs typeface="SimSun" panose="02010600030101010101" pitchFamily="2" charset="-122"/>
              </a:endParaRPr>
            </a:p>
            <a:p>
              <a:pPr marL="342900" lvl="0" indent="-342900">
                <a:lnSpc>
                  <a:spcPct val="106000"/>
                </a:lnSpc>
                <a:spcAft>
                  <a:spcPts val="0"/>
                </a:spcAft>
                <a:buFont typeface="Symbol" panose="05050102010706020507" pitchFamily="18" charset="2"/>
                <a:buChar char=""/>
              </a:pPr>
              <a:r>
                <a:rPr lang="en-US" sz="1600" dirty="0">
                  <a:solidFill>
                    <a:srgbClr val="000000"/>
                  </a:solidFill>
                  <a:effectLst/>
                  <a:latin typeface="Times New Roman" panose="02020603050405020304" pitchFamily="18" charset="0"/>
                  <a:ea typeface="Times New Roman" panose="02020603050405020304" pitchFamily="18" charset="0"/>
                  <a:cs typeface="SimSun" panose="02010600030101010101" pitchFamily="2" charset="-122"/>
                </a:rPr>
                <a:t>Income from urban agric. (Crops and Livestock)</a:t>
              </a:r>
              <a:endParaRPr lang="en-US" sz="1600" dirty="0">
                <a:effectLst/>
                <a:latin typeface="Calibri" panose="020F0502020204030204" pitchFamily="34" charset="0"/>
                <a:ea typeface="Yu Mincho"/>
                <a:cs typeface="SimSun" panose="02010600030101010101" pitchFamily="2" charset="-122"/>
              </a:endParaRPr>
            </a:p>
            <a:p>
              <a:pPr marL="342900" lvl="0" indent="-342900">
                <a:lnSpc>
                  <a:spcPct val="106000"/>
                </a:lnSpc>
                <a:spcAft>
                  <a:spcPts val="0"/>
                </a:spcAft>
                <a:buFont typeface="Symbol" panose="05050102010706020507" pitchFamily="18" charset="2"/>
                <a:buChar char=""/>
              </a:pPr>
              <a:r>
                <a:rPr lang="en-US" sz="1600" dirty="0">
                  <a:solidFill>
                    <a:srgbClr val="000000"/>
                  </a:solidFill>
                  <a:effectLst/>
                  <a:latin typeface="Times New Roman" panose="02020603050405020304" pitchFamily="18" charset="0"/>
                  <a:ea typeface="Times New Roman" panose="02020603050405020304" pitchFamily="18" charset="0"/>
                  <a:cs typeface="SimSun" panose="02010600030101010101" pitchFamily="2" charset="-122"/>
                </a:rPr>
                <a:t>Income from other sources (e.g. small business)</a:t>
              </a:r>
              <a:endParaRPr lang="en-US" sz="1600" dirty="0">
                <a:effectLst/>
                <a:latin typeface="Calibri" panose="020F0502020204030204" pitchFamily="34" charset="0"/>
                <a:ea typeface="Yu Mincho"/>
                <a:cs typeface="SimSun" panose="02010600030101010101" pitchFamily="2" charset="-122"/>
              </a:endParaRPr>
            </a:p>
            <a:p>
              <a:pPr marL="228600">
                <a:lnSpc>
                  <a:spcPct val="106000"/>
                </a:lnSpc>
                <a:spcAft>
                  <a:spcPts val="800"/>
                </a:spcAft>
              </a:pPr>
              <a:r>
                <a:rPr lang="en-US" sz="1600" dirty="0">
                  <a:solidFill>
                    <a:srgbClr val="000000"/>
                  </a:solidFill>
                  <a:effectLst/>
                  <a:latin typeface="Times New Roman" panose="02020603050405020304" pitchFamily="18" charset="0"/>
                  <a:ea typeface="Times New Roman" panose="02020603050405020304" pitchFamily="18" charset="0"/>
                  <a:cs typeface="SimSun" panose="02010600030101010101" pitchFamily="2" charset="-122"/>
                </a:rPr>
                <a:t>Expenditure from the income</a:t>
              </a:r>
              <a:endParaRPr lang="en-US" sz="1600" dirty="0">
                <a:effectLst/>
                <a:latin typeface="Calibri" panose="020F0502020204030204" pitchFamily="34" charset="0"/>
                <a:ea typeface="Yu Mincho"/>
                <a:cs typeface="SimSun" panose="02010600030101010101" pitchFamily="2" charset="-122"/>
              </a:endParaRPr>
            </a:p>
            <a:p>
              <a:pPr marL="342900" lvl="0" indent="-342900" algn="just">
                <a:spcAft>
                  <a:spcPts val="0"/>
                </a:spcAft>
                <a:buFont typeface="Symbol" panose="05050102010706020507" pitchFamily="18" charset="2"/>
                <a:buChar char=""/>
              </a:pPr>
              <a:r>
                <a:rPr lang="en-US" sz="1600" dirty="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Access to financial resources </a:t>
              </a:r>
              <a:endParaRPr lang="en-US" dirty="0">
                <a:effectLst/>
                <a:latin typeface="Palatino Linotype" panose="02040502050505030304" pitchFamily="18" charset="0"/>
                <a:ea typeface="Palatino Linotype" panose="02040502050505030304" pitchFamily="18" charset="0"/>
                <a:cs typeface="Palatino Linotype" panose="02040502050505030304" pitchFamily="18" charset="0"/>
              </a:endParaRPr>
            </a:p>
            <a:p>
              <a:pPr marL="342900" lvl="0" indent="-342900" algn="just">
                <a:spcAft>
                  <a:spcPts val="0"/>
                </a:spcAft>
                <a:buFont typeface="Symbol" panose="05050102010706020507" pitchFamily="18" charset="2"/>
                <a:buChar char=""/>
              </a:pPr>
              <a:r>
                <a:rPr lang="en-US" sz="1600" dirty="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Availability of space for urban farming</a:t>
              </a:r>
              <a:endParaRPr lang="en-US" dirty="0">
                <a:effectLst/>
                <a:latin typeface="Palatino Linotype" panose="02040502050505030304" pitchFamily="18" charset="0"/>
                <a:ea typeface="Palatino Linotype" panose="02040502050505030304" pitchFamily="18" charset="0"/>
                <a:cs typeface="Palatino Linotype" panose="02040502050505030304" pitchFamily="18" charset="0"/>
              </a:endParaRPr>
            </a:p>
            <a:p>
              <a:pPr marL="342900" lvl="0" indent="-342900" algn="just">
                <a:spcAft>
                  <a:spcPts val="0"/>
                </a:spcAft>
                <a:buFont typeface="Symbol" panose="05050102010706020507" pitchFamily="18" charset="2"/>
                <a:buChar char=""/>
              </a:pPr>
              <a:r>
                <a:rPr lang="en-US" sz="1600" dirty="0">
                  <a:solidFill>
                    <a:srgbClr val="000000"/>
                  </a:solidFill>
                  <a:effectLst/>
                  <a:latin typeface="Times New Roman" panose="02020603050405020304" pitchFamily="18" charset="0"/>
                  <a:ea typeface="Palatino Linotype" panose="02040502050505030304" pitchFamily="18" charset="0"/>
                  <a:cs typeface="Palatino Linotype" panose="02040502050505030304" pitchFamily="18" charset="0"/>
                </a:rPr>
                <a:t>Government policies</a:t>
              </a:r>
              <a:endParaRPr lang="en-US" dirty="0">
                <a:effectLst/>
                <a:latin typeface="Palatino Linotype" panose="02040502050505030304" pitchFamily="18" charset="0"/>
                <a:ea typeface="Palatino Linotype" panose="02040502050505030304" pitchFamily="18" charset="0"/>
                <a:cs typeface="Palatino Linotype" panose="02040502050505030304" pitchFamily="18" charset="0"/>
              </a:endParaRPr>
            </a:p>
          </p:txBody>
        </p:sp>
        <p:cxnSp>
          <p:nvCxnSpPr>
            <p:cNvPr id="21" name="AutoShape 10"/>
            <p:cNvCxnSpPr>
              <a:cxnSpLocks noChangeShapeType="1"/>
            </p:cNvCxnSpPr>
            <p:nvPr/>
          </p:nvCxnSpPr>
          <p:spPr bwMode="auto">
            <a:xfrm>
              <a:off x="1038175" y="380955"/>
              <a:ext cx="0" cy="481764"/>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2" name="AutoShape 11"/>
            <p:cNvCxnSpPr>
              <a:cxnSpLocks noChangeShapeType="1"/>
            </p:cNvCxnSpPr>
            <p:nvPr/>
          </p:nvCxnSpPr>
          <p:spPr bwMode="auto">
            <a:xfrm flipH="1">
              <a:off x="6092201" y="352327"/>
              <a:ext cx="1" cy="83629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3" name="AutoShape 13"/>
            <p:cNvCxnSpPr>
              <a:cxnSpLocks noChangeShapeType="1"/>
            </p:cNvCxnSpPr>
            <p:nvPr/>
          </p:nvCxnSpPr>
          <p:spPr bwMode="auto">
            <a:xfrm flipH="1">
              <a:off x="2514464" y="1711645"/>
              <a:ext cx="230815" cy="11437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4" name="AutoShape 14"/>
            <p:cNvCxnSpPr>
              <a:cxnSpLocks noChangeShapeType="1"/>
            </p:cNvCxnSpPr>
            <p:nvPr/>
          </p:nvCxnSpPr>
          <p:spPr bwMode="auto">
            <a:xfrm flipV="1">
              <a:off x="2617096" y="2884227"/>
              <a:ext cx="2590136" cy="49592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5" name="Rectangle 24"/>
            <p:cNvSpPr>
              <a:spLocks noChangeArrowheads="1"/>
            </p:cNvSpPr>
            <p:nvPr/>
          </p:nvSpPr>
          <p:spPr bwMode="auto">
            <a:xfrm>
              <a:off x="2777739" y="1188618"/>
              <a:ext cx="1790558" cy="1695760"/>
            </a:xfrm>
            <a:prstGeom prst="rect">
              <a:avLst/>
            </a:prstGeom>
            <a:solidFill>
              <a:srgbClr val="FFFFFF"/>
            </a:solidFill>
            <a:ln w="25400">
              <a:solidFill>
                <a:srgbClr val="000000"/>
              </a:solidFill>
              <a:round/>
              <a:headEnd/>
              <a:tailEnd/>
            </a:ln>
          </p:spPr>
          <p:txBody>
            <a:bodyPr rot="0" vert="horz" wrap="square" lIns="91440" tIns="45720" rIns="91440" bIns="45720" anchor="ctr" anchorCtr="0" upright="1">
              <a:noAutofit/>
            </a:bodyPr>
            <a:lstStyle/>
            <a:p>
              <a:pPr marL="57150">
                <a:lnSpc>
                  <a:spcPct val="106000"/>
                </a:lnSpc>
                <a:spcAft>
                  <a:spcPts val="1000"/>
                </a:spcAft>
                <a:tabLst>
                  <a:tab pos="57150" algn="l"/>
                </a:tabLst>
              </a:pPr>
              <a:r>
                <a:rPr lang="en-US" sz="1600" dirty="0">
                  <a:effectLst/>
                  <a:latin typeface="Times New Roman" panose="02020603050405020304" pitchFamily="18" charset="0"/>
                  <a:ea typeface="Yu Mincho"/>
                  <a:cs typeface="SimSun" panose="02010600030101010101" pitchFamily="2" charset="-122"/>
                </a:rPr>
                <a:t>National Agricultural policy </a:t>
              </a:r>
              <a:endParaRPr lang="en-US" sz="1600" dirty="0">
                <a:effectLst/>
                <a:latin typeface="Calibri" panose="020F0502020204030204" pitchFamily="34" charset="0"/>
                <a:ea typeface="Yu Mincho"/>
                <a:cs typeface="SimSun" panose="02010600030101010101" pitchFamily="2" charset="-122"/>
              </a:endParaRPr>
            </a:p>
          </p:txBody>
        </p:sp>
        <p:cxnSp>
          <p:nvCxnSpPr>
            <p:cNvPr id="26" name="AutoShape 11"/>
            <p:cNvCxnSpPr>
              <a:cxnSpLocks noChangeShapeType="1"/>
            </p:cNvCxnSpPr>
            <p:nvPr/>
          </p:nvCxnSpPr>
          <p:spPr bwMode="auto">
            <a:xfrm>
              <a:off x="3088380" y="717793"/>
              <a:ext cx="2098" cy="363274"/>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7" name="Rectangle 26"/>
            <p:cNvSpPr>
              <a:spLocks noChangeArrowheads="1"/>
            </p:cNvSpPr>
            <p:nvPr/>
          </p:nvSpPr>
          <p:spPr bwMode="auto">
            <a:xfrm>
              <a:off x="2460203" y="-16637"/>
              <a:ext cx="2108094" cy="734430"/>
            </a:xfrm>
            <a:prstGeom prst="rect">
              <a:avLst/>
            </a:prstGeom>
            <a:solidFill>
              <a:srgbClr val="FFFFFF"/>
            </a:solidFill>
            <a:ln w="25400">
              <a:solidFill>
                <a:srgbClr val="000000"/>
              </a:solidFill>
              <a:round/>
              <a:headEnd/>
              <a:tailEnd/>
            </a:ln>
          </p:spPr>
          <p:txBody>
            <a:bodyPr rot="0" vert="horz" wrap="square" lIns="91440" tIns="45720" rIns="91440" bIns="45720" anchor="ctr" anchorCtr="0" upright="1">
              <a:noAutofit/>
            </a:bodyPr>
            <a:lstStyle/>
            <a:p>
              <a:pPr algn="ctr">
                <a:lnSpc>
                  <a:spcPct val="106000"/>
                </a:lnSpc>
                <a:spcAft>
                  <a:spcPts val="800"/>
                </a:spcAft>
              </a:pPr>
              <a:r>
                <a:rPr lang="en-US" sz="1600" b="1"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INTERMEDIATE VARIABLE </a:t>
              </a:r>
              <a:endParaRPr lang="en-US" sz="16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cxnSp>
          <p:nvCxnSpPr>
            <p:cNvPr id="28" name="AutoShape 13"/>
            <p:cNvCxnSpPr>
              <a:cxnSpLocks noChangeShapeType="1"/>
            </p:cNvCxnSpPr>
            <p:nvPr/>
          </p:nvCxnSpPr>
          <p:spPr bwMode="auto">
            <a:xfrm>
              <a:off x="4580638" y="1786504"/>
              <a:ext cx="626594" cy="49616"/>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8709194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11531" y="-195226"/>
            <a:ext cx="4332917" cy="699230"/>
          </a:xfrm>
          <a:prstGeom prst="rect">
            <a:avLst/>
          </a:prstGeom>
        </p:spPr>
        <p:txBody>
          <a:bodyPr wrap="none">
            <a:spAutoFit/>
          </a:bodyPr>
          <a:lstStyle/>
          <a:p>
            <a:pPr algn="ctr">
              <a:lnSpc>
                <a:spcPct val="200000"/>
              </a:lnSpc>
              <a:spcBef>
                <a:spcPts val="1200"/>
              </a:spcBef>
              <a:spcAft>
                <a:spcPts val="800"/>
              </a:spcAft>
            </a:pPr>
            <a:r>
              <a:rPr lang="en-US" sz="2300" b="1" kern="1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RESEARCH</a:t>
            </a:r>
            <a:r>
              <a:rPr lang="en-US" sz="2300" b="1" kern="100" spc="-65"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300" b="1" kern="1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METHODOLOGY</a:t>
            </a:r>
            <a:endParaRPr lang="en-US" sz="2300" b="1" kern="100" dirty="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3" name="Rectangle 2"/>
          <p:cNvSpPr/>
          <p:nvPr/>
        </p:nvSpPr>
        <p:spPr>
          <a:xfrm>
            <a:off x="271646" y="420327"/>
            <a:ext cx="6096000" cy="2349361"/>
          </a:xfrm>
          <a:prstGeom prst="rect">
            <a:avLst/>
          </a:prstGeom>
        </p:spPr>
        <p:txBody>
          <a:bodyPr>
            <a:spAutoFit/>
          </a:bodyPr>
          <a:lstStyle/>
          <a:p>
            <a:pPr marL="342900" indent="-343535" algn="just">
              <a:spcAft>
                <a:spcPts val="800"/>
              </a:spcAft>
              <a:tabLst>
                <a:tab pos="342900" algn="l"/>
              </a:tabLst>
            </a:pPr>
            <a:r>
              <a:rPr lang="en-US" sz="2000" b="1" dirty="0" smtClean="0">
                <a:solidFill>
                  <a:srgbClr val="000000"/>
                </a:solidFill>
                <a:effectLst/>
                <a:latin typeface="Times New Roman" panose="02020603050405020304" pitchFamily="18" charset="0"/>
                <a:ea typeface="Times New Roman" panose="02020603050405020304" pitchFamily="18" charset="0"/>
              </a:rPr>
              <a:t>Selection of the Study Area</a:t>
            </a:r>
            <a:endParaRPr lang="en-US" sz="2000" b="1" dirty="0" smtClean="0">
              <a:effectLst/>
              <a:latin typeface="Times New Roman" panose="02020603050405020304" pitchFamily="18" charset="0"/>
              <a:ea typeface="Times New Roman" panose="02020603050405020304" pitchFamily="18" charset="0"/>
            </a:endParaRPr>
          </a:p>
          <a:p>
            <a:pPr algn="just">
              <a:spcAft>
                <a:spcPts val="800"/>
              </a:spcAft>
            </a:pPr>
            <a:r>
              <a:rPr lang="en-US" sz="2000" dirty="0" smtClean="0">
                <a:solidFill>
                  <a:srgbClr val="000000"/>
                </a:solidFill>
                <a:effectLst/>
                <a:latin typeface="Times New Roman" panose="02020603050405020304" pitchFamily="18" charset="0"/>
                <a:ea typeface="Calibri" panose="020F0502020204030204" pitchFamily="34" charset="0"/>
                <a:cs typeface="Liberation Serif"/>
              </a:rPr>
              <a:t>The study aimed to investigate the role</a:t>
            </a:r>
            <a:r>
              <a:rPr lang="en-US" sz="2000" spc="200" dirty="0" smtClean="0">
                <a:solidFill>
                  <a:srgbClr val="000000"/>
                </a:solidFill>
                <a:effectLst/>
                <a:latin typeface="Times New Roman" panose="02020603050405020304" pitchFamily="18" charset="0"/>
                <a:ea typeface="Calibri" panose="020F0502020204030204" pitchFamily="34" charset="0"/>
                <a:cs typeface="Liberation Serif"/>
              </a:rPr>
              <a:t> </a:t>
            </a:r>
            <a:r>
              <a:rPr lang="en-US" sz="2000" dirty="0" smtClean="0">
                <a:solidFill>
                  <a:srgbClr val="000000"/>
                </a:solidFill>
                <a:effectLst/>
                <a:latin typeface="Times New Roman" panose="02020603050405020304" pitchFamily="18" charset="0"/>
                <a:ea typeface="Calibri" panose="020F0502020204030204" pitchFamily="34" charset="0"/>
                <a:cs typeface="Liberation Serif"/>
              </a:rPr>
              <a:t>of urban agriculture in reducing poverty in </a:t>
            </a:r>
            <a:r>
              <a:rPr lang="en-US" sz="2000" dirty="0" err="1" smtClean="0">
                <a:solidFill>
                  <a:srgbClr val="000000"/>
                </a:solidFill>
                <a:effectLst/>
                <a:latin typeface="Times New Roman" panose="02020603050405020304" pitchFamily="18" charset="0"/>
                <a:ea typeface="Calibri" panose="020F0502020204030204" pitchFamily="34" charset="0"/>
                <a:cs typeface="Liberation Serif"/>
              </a:rPr>
              <a:t>Mbeya</a:t>
            </a:r>
            <a:r>
              <a:rPr lang="en-US" sz="2000" dirty="0" smtClean="0">
                <a:solidFill>
                  <a:srgbClr val="000000"/>
                </a:solidFill>
                <a:effectLst/>
                <a:latin typeface="Times New Roman" panose="02020603050405020304" pitchFamily="18" charset="0"/>
                <a:ea typeface="Calibri" panose="020F0502020204030204" pitchFamily="34" charset="0"/>
                <a:cs typeface="Liberation Serif"/>
              </a:rPr>
              <a:t> city. </a:t>
            </a:r>
            <a:r>
              <a:rPr lang="en-US" sz="2000" dirty="0" err="1" smtClean="0">
                <a:solidFill>
                  <a:srgbClr val="000000"/>
                </a:solidFill>
                <a:effectLst/>
                <a:latin typeface="Times New Roman" panose="02020603050405020304" pitchFamily="18" charset="0"/>
                <a:ea typeface="Calibri" panose="020F0502020204030204" pitchFamily="34" charset="0"/>
                <a:cs typeface="Liberation Serif"/>
              </a:rPr>
              <a:t>Mbeya</a:t>
            </a:r>
            <a:r>
              <a:rPr lang="en-US" sz="2000" dirty="0" smtClean="0">
                <a:solidFill>
                  <a:srgbClr val="000000"/>
                </a:solidFill>
                <a:effectLst/>
                <a:latin typeface="Times New Roman" panose="02020603050405020304" pitchFamily="18" charset="0"/>
                <a:ea typeface="Calibri" panose="020F0502020204030204" pitchFamily="34" charset="0"/>
                <a:cs typeface="Liberation Serif"/>
              </a:rPr>
              <a:t> city is selected as the study area due to its high population density and the presence of various economic activities. The study area is also accessible, which makes data collection easier and more efficient (Fig. 2). </a:t>
            </a:r>
            <a:endParaRPr lang="en-US" sz="2000" dirty="0">
              <a:solidFill>
                <a:srgbClr val="000000"/>
              </a:solidFill>
              <a:effectLst/>
              <a:latin typeface="Liberation Serif"/>
              <a:ea typeface="Calibri" panose="020F0502020204030204" pitchFamily="34" charset="0"/>
              <a:cs typeface="Liberation Serif"/>
            </a:endParaRPr>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271646" y="2769688"/>
            <a:ext cx="5879771" cy="3939869"/>
          </a:xfrm>
          <a:prstGeom prst="rect">
            <a:avLst/>
          </a:prstGeom>
        </p:spPr>
      </p:pic>
      <p:sp>
        <p:nvSpPr>
          <p:cNvPr id="6" name="Rectangle 5"/>
          <p:cNvSpPr/>
          <p:nvPr/>
        </p:nvSpPr>
        <p:spPr>
          <a:xfrm>
            <a:off x="6367645" y="420327"/>
            <a:ext cx="5733311" cy="2964914"/>
          </a:xfrm>
          <a:prstGeom prst="rect">
            <a:avLst/>
          </a:prstGeom>
        </p:spPr>
        <p:txBody>
          <a:bodyPr wrap="square">
            <a:spAutoFit/>
          </a:bodyPr>
          <a:lstStyle/>
          <a:p>
            <a:pPr marL="342900" indent="-343535" algn="just">
              <a:spcAft>
                <a:spcPts val="800"/>
              </a:spcAft>
              <a:tabLst>
                <a:tab pos="342900" algn="l"/>
              </a:tabLst>
            </a:pPr>
            <a:r>
              <a:rPr lang="en-US" sz="2000" b="1" dirty="0" smtClean="0">
                <a:solidFill>
                  <a:srgbClr val="000000"/>
                </a:solidFill>
                <a:effectLst/>
                <a:latin typeface="Times New Roman" panose="02020603050405020304" pitchFamily="18" charset="0"/>
                <a:ea typeface="Times New Roman" panose="02020603050405020304" pitchFamily="18" charset="0"/>
              </a:rPr>
              <a:t>Research Design</a:t>
            </a:r>
            <a:endParaRPr lang="en-US" sz="2000" b="1" dirty="0" smtClean="0">
              <a:effectLst/>
              <a:latin typeface="Times New Roman" panose="02020603050405020304" pitchFamily="18" charset="0"/>
              <a:ea typeface="Times New Roman" panose="02020603050405020304" pitchFamily="18" charset="0"/>
            </a:endParaRPr>
          </a:p>
          <a:p>
            <a:pPr algn="just">
              <a:spcAft>
                <a:spcPts val="800"/>
              </a:spcAft>
            </a:pPr>
            <a:r>
              <a:rPr lang="en-US" sz="2000" dirty="0" smtClean="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This study employed a non-experiment cross-section research design. This design allowed the researcher to involve the respondents once during the study. This design is appropriate because it allows the researcher to describe and analyze the urban agriculture in reducing poverty. The study involved collecting data from the selected farmers in </a:t>
            </a:r>
            <a:r>
              <a:rPr lang="en-US" sz="2000" dirty="0" err="1" smtClean="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Mbeya</a:t>
            </a:r>
            <a:r>
              <a:rPr lang="en-US" sz="2000" dirty="0" smtClean="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 district who practice urban agriculture. </a:t>
            </a:r>
            <a:endParaRPr lang="en-US" dirty="0">
              <a:effectLst/>
              <a:latin typeface="Calibri" panose="020F0502020204030204" pitchFamily="34" charset="0"/>
              <a:ea typeface="Calibri" panose="020F0502020204030204" pitchFamily="34" charset="0"/>
              <a:cs typeface="SimSun" panose="02010600030101010101" pitchFamily="2" charset="-122"/>
            </a:endParaRPr>
          </a:p>
        </p:txBody>
      </p:sp>
    </p:spTree>
    <p:extLst>
      <p:ext uri="{BB962C8B-B14F-4D97-AF65-F5344CB8AC3E}">
        <p14:creationId xmlns:p14="http://schemas.microsoft.com/office/powerpoint/2010/main" val="14679419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971026116"/>
              </p:ext>
            </p:extLst>
          </p:nvPr>
        </p:nvGraphicFramePr>
        <p:xfrm>
          <a:off x="210066" y="1033153"/>
          <a:ext cx="11677134" cy="5569528"/>
        </p:xfrm>
        <a:graphic>
          <a:graphicData uri="http://schemas.openxmlformats.org/drawingml/2006/table">
            <a:tbl>
              <a:tblPr firstRow="1" bandRow="1">
                <a:tableStyleId>{2D5ABB26-0587-4C30-8999-92F81FD0307C}</a:tableStyleId>
              </a:tblPr>
              <a:tblGrid>
                <a:gridCol w="3892378"/>
                <a:gridCol w="3892378"/>
                <a:gridCol w="3892378"/>
              </a:tblGrid>
              <a:tr h="834857">
                <a:tc>
                  <a:txBody>
                    <a:bodyPr/>
                    <a:lstStyle/>
                    <a:p>
                      <a:r>
                        <a:rPr lang="en-US" sz="2800" b="1" kern="1200" dirty="0" smtClean="0">
                          <a:solidFill>
                            <a:schemeClr val="tx1"/>
                          </a:solidFill>
                          <a:effectLst/>
                          <a:latin typeface="Times New Roman" panose="02020603050405020304" pitchFamily="18" charset="0"/>
                          <a:ea typeface="+mn-ea"/>
                          <a:cs typeface="Times New Roman" panose="02020603050405020304" pitchFamily="18" charset="0"/>
                        </a:rPr>
                        <a:t>Data Types and Sources </a:t>
                      </a:r>
                      <a:endParaRPr lang="en-US" sz="2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smtClean="0">
                          <a:latin typeface="Times New Roman" panose="02020603050405020304" pitchFamily="18" charset="0"/>
                          <a:cs typeface="Times New Roman" panose="02020603050405020304" pitchFamily="18" charset="0"/>
                        </a:rPr>
                        <a:t>Data collection</a:t>
                      </a:r>
                      <a:endParaRPr lang="en-US" sz="2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smtClean="0">
                          <a:latin typeface="Times New Roman" panose="02020603050405020304" pitchFamily="18" charset="0"/>
                          <a:cs typeface="Times New Roman" panose="02020603050405020304" pitchFamily="18" charset="0"/>
                        </a:rPr>
                        <a:t>tools</a:t>
                      </a:r>
                      <a:endParaRPr lang="en-US" sz="2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440987">
                <a:tc>
                  <a:txBody>
                    <a:bodyPr/>
                    <a:lstStyle/>
                    <a:p>
                      <a:r>
                        <a:rPr lang="en-US" sz="2800" dirty="0" smtClean="0">
                          <a:latin typeface="Times New Roman" panose="02020603050405020304" pitchFamily="18" charset="0"/>
                          <a:cs typeface="Times New Roman" panose="02020603050405020304" pitchFamily="18" charset="0"/>
                        </a:rPr>
                        <a:t>Primary( source: individual farmer</a:t>
                      </a:r>
                      <a:endParaRPr lang="en-US" sz="2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kern="1200" dirty="0" smtClean="0">
                          <a:solidFill>
                            <a:schemeClr val="tx1"/>
                          </a:solidFill>
                          <a:effectLst/>
                          <a:latin typeface="Times New Roman" panose="02020603050405020304" pitchFamily="18" charset="0"/>
                          <a:ea typeface="+mn-ea"/>
                          <a:cs typeface="Times New Roman" panose="02020603050405020304" pitchFamily="18" charset="0"/>
                        </a:rPr>
                        <a:t>interview</a:t>
                      </a:r>
                      <a:endParaRPr 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kern="1200" dirty="0" smtClean="0">
                          <a:solidFill>
                            <a:schemeClr val="tx1"/>
                          </a:solidFill>
                          <a:effectLst/>
                          <a:latin typeface="Times New Roman" panose="02020603050405020304" pitchFamily="18" charset="0"/>
                          <a:ea typeface="+mn-ea"/>
                          <a:cs typeface="Times New Roman" panose="02020603050405020304" pitchFamily="18" charset="0"/>
                        </a:rPr>
                        <a:t>questionnaires </a:t>
                      </a:r>
                      <a:endParaRPr 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93684">
                <a:tc>
                  <a:txBody>
                    <a:bodyPr/>
                    <a:lstStyle/>
                    <a:p>
                      <a:r>
                        <a:rPr lang="en-US" sz="2800" dirty="0" smtClean="0">
                          <a:latin typeface="Times New Roman" panose="02020603050405020304" pitchFamily="18" charset="0"/>
                          <a:cs typeface="Times New Roman" panose="02020603050405020304" pitchFamily="18" charset="0"/>
                        </a:rPr>
                        <a:t>Secondary( sources: reports</a:t>
                      </a:r>
                      <a:r>
                        <a:rPr lang="en-US" sz="2800" kern="1200" dirty="0" smtClean="0">
                          <a:solidFill>
                            <a:schemeClr val="tx1"/>
                          </a:solidFill>
                          <a:effectLst/>
                          <a:latin typeface="Times New Roman" panose="02020603050405020304" pitchFamily="18" charset="0"/>
                          <a:ea typeface="+mn-ea"/>
                          <a:cs typeface="Times New Roman" panose="02020603050405020304" pitchFamily="18" charset="0"/>
                        </a:rPr>
                        <a:t> from the government, non-governmental organizations</a:t>
                      </a:r>
                      <a:r>
                        <a:rPr lang="en-US" sz="2800" kern="1200" baseline="0" dirty="0" smtClean="0">
                          <a:solidFill>
                            <a:schemeClr val="tx1"/>
                          </a:solidFill>
                          <a:effectLst/>
                          <a:latin typeface="Times New Roman" panose="02020603050405020304" pitchFamily="18" charset="0"/>
                          <a:ea typeface="+mn-ea"/>
                          <a:cs typeface="Times New Roman" panose="02020603050405020304" pitchFamily="18" charset="0"/>
                        </a:rPr>
                        <a:t> etc.</a:t>
                      </a:r>
                      <a:endParaRPr lang="en-US" sz="2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smtClean="0">
                          <a:latin typeface="Times New Roman" panose="02020603050405020304" pitchFamily="18" charset="0"/>
                          <a:cs typeface="Times New Roman" panose="02020603050405020304" pitchFamily="18" charset="0"/>
                        </a:rPr>
                        <a:t>Documentary</a:t>
                      </a:r>
                      <a:r>
                        <a:rPr lang="en-US" sz="2800" baseline="0" dirty="0" smtClean="0">
                          <a:latin typeface="Times New Roman" panose="02020603050405020304" pitchFamily="18" charset="0"/>
                          <a:cs typeface="Times New Roman" panose="02020603050405020304" pitchFamily="18" charset="0"/>
                        </a:rPr>
                        <a:t> review</a:t>
                      </a:r>
                      <a:endParaRPr 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smtClean="0">
                          <a:latin typeface="Times New Roman" panose="02020603050405020304" pitchFamily="18" charset="0"/>
                          <a:cs typeface="Times New Roman" panose="02020603050405020304" pitchFamily="18" charset="0"/>
                        </a:rPr>
                        <a:t>checklist</a:t>
                      </a:r>
                      <a:endParaRPr lang="en-US" sz="2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3" name="Rectangle 2"/>
          <p:cNvSpPr/>
          <p:nvPr/>
        </p:nvSpPr>
        <p:spPr>
          <a:xfrm>
            <a:off x="0" y="135924"/>
            <a:ext cx="12457641" cy="523220"/>
          </a:xfrm>
          <a:prstGeom prst="rect">
            <a:avLst/>
          </a:prstGeom>
        </p:spPr>
        <p:txBody>
          <a:bodyPr wrap="none">
            <a:spAutoFit/>
          </a:bodyPr>
          <a:lstStyle/>
          <a:p>
            <a:r>
              <a:rPr lang="en-US" sz="2800" b="1"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DATA TYPES AND SOURCES, DATA COLLECTION METHODS &amp; TOOLS  </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0622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12876" y="-63184"/>
            <a:ext cx="2209259" cy="523220"/>
          </a:xfrm>
          <a:prstGeom prst="rect">
            <a:avLst/>
          </a:prstGeom>
        </p:spPr>
        <p:txBody>
          <a:bodyPr wrap="none">
            <a:spAutoFit/>
          </a:bodyPr>
          <a:lstStyle/>
          <a:p>
            <a:r>
              <a:rPr lang="en-US" sz="2800" b="1"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SAMPLING </a:t>
            </a:r>
            <a:endParaRPr lang="en-US"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211991" y="347186"/>
            <a:ext cx="5084403" cy="5193986"/>
          </a:xfrm>
          <a:prstGeom prst="rect">
            <a:avLst/>
          </a:prstGeom>
        </p:spPr>
        <p:txBody>
          <a:bodyPr wrap="square">
            <a:spAutoFit/>
          </a:bodyPr>
          <a:lstStyle/>
          <a:p>
            <a:pPr marL="342900" indent="-343535" algn="just">
              <a:lnSpc>
                <a:spcPct val="150000"/>
              </a:lnSpc>
              <a:spcAft>
                <a:spcPts val="800"/>
              </a:spcAft>
              <a:tabLst>
                <a:tab pos="342900" algn="l"/>
              </a:tabLst>
            </a:pPr>
            <a:r>
              <a:rPr lang="en-US" b="1" dirty="0" smtClean="0">
                <a:solidFill>
                  <a:srgbClr val="000000"/>
                </a:solidFill>
                <a:effectLst/>
                <a:latin typeface="Times New Roman" panose="02020603050405020304" pitchFamily="18" charset="0"/>
                <a:ea typeface="Times New Roman" panose="02020603050405020304" pitchFamily="18" charset="0"/>
              </a:rPr>
              <a:t>Sampling frame</a:t>
            </a:r>
            <a:endParaRPr lang="en-US" b="1" dirty="0" smtClean="0">
              <a:effectLst/>
              <a:latin typeface="Times New Roman" panose="02020603050405020304" pitchFamily="18" charset="0"/>
              <a:ea typeface="Times New Roman" panose="02020603050405020304" pitchFamily="18" charset="0"/>
            </a:endParaRPr>
          </a:p>
          <a:p>
            <a:pPr algn="just">
              <a:lnSpc>
                <a:spcPct val="150000"/>
              </a:lnSpc>
              <a:spcAft>
                <a:spcPts val="800"/>
              </a:spcAft>
            </a:pPr>
            <a:r>
              <a:rPr lang="en-US" dirty="0" smtClean="0">
                <a:solidFill>
                  <a:srgbClr val="000000"/>
                </a:solidFill>
                <a:effectLst/>
                <a:latin typeface="Times New Roman" panose="02020603050405020304" pitchFamily="18" charset="0"/>
                <a:ea typeface="Calibri" panose="020F0502020204030204" pitchFamily="34" charset="0"/>
                <a:cs typeface="Liberation Serif"/>
              </a:rPr>
              <a:t>The sampling frame for this study included all urban farmers of </a:t>
            </a:r>
            <a:r>
              <a:rPr lang="en-US" dirty="0" err="1" smtClean="0">
                <a:solidFill>
                  <a:srgbClr val="000000"/>
                </a:solidFill>
                <a:effectLst/>
                <a:latin typeface="Times New Roman" panose="02020603050405020304" pitchFamily="18" charset="0"/>
                <a:ea typeface="Calibri" panose="020F0502020204030204" pitchFamily="34" charset="0"/>
                <a:cs typeface="Liberation Serif"/>
              </a:rPr>
              <a:t>Mwakibete</a:t>
            </a:r>
            <a:r>
              <a:rPr lang="en-US" dirty="0" smtClean="0">
                <a:solidFill>
                  <a:srgbClr val="000000"/>
                </a:solidFill>
                <a:effectLst/>
                <a:latin typeface="Times New Roman" panose="02020603050405020304" pitchFamily="18" charset="0"/>
                <a:ea typeface="Calibri" panose="020F0502020204030204" pitchFamily="34" charset="0"/>
                <a:cs typeface="Liberation Serif"/>
              </a:rPr>
              <a:t> ward who are urban farmers. </a:t>
            </a:r>
            <a:endParaRPr lang="en-US" dirty="0" smtClean="0">
              <a:solidFill>
                <a:srgbClr val="000000"/>
              </a:solidFill>
              <a:effectLst/>
              <a:latin typeface="Liberation Serif"/>
              <a:ea typeface="Calibri" panose="020F0502020204030204" pitchFamily="34" charset="0"/>
              <a:cs typeface="Liberation Serif"/>
            </a:endParaRPr>
          </a:p>
          <a:p>
            <a:pPr marL="342900" indent="-343535" algn="just">
              <a:lnSpc>
                <a:spcPct val="150000"/>
              </a:lnSpc>
              <a:spcAft>
                <a:spcPts val="800"/>
              </a:spcAft>
              <a:tabLst>
                <a:tab pos="342900" algn="l"/>
              </a:tabLst>
            </a:pPr>
            <a:r>
              <a:rPr lang="en-US" b="1" dirty="0" smtClean="0">
                <a:solidFill>
                  <a:srgbClr val="000000"/>
                </a:solidFill>
                <a:effectLst/>
                <a:latin typeface="Times New Roman" panose="02020603050405020304" pitchFamily="18" charset="0"/>
                <a:ea typeface="Times New Roman" panose="02020603050405020304" pitchFamily="18" charset="0"/>
              </a:rPr>
              <a:t>3.5.2 Sampling unit</a:t>
            </a:r>
            <a:endParaRPr lang="en-US" b="1" dirty="0" smtClean="0">
              <a:effectLst/>
              <a:latin typeface="Times New Roman" panose="02020603050405020304" pitchFamily="18" charset="0"/>
              <a:ea typeface="Times New Roman" panose="02020603050405020304" pitchFamily="18" charset="0"/>
            </a:endParaRPr>
          </a:p>
          <a:p>
            <a:pPr algn="just">
              <a:lnSpc>
                <a:spcPct val="150000"/>
              </a:lnSpc>
              <a:spcAft>
                <a:spcPts val="800"/>
              </a:spcAft>
            </a:pPr>
            <a:r>
              <a:rPr lang="en-US" dirty="0" smtClean="0">
                <a:solidFill>
                  <a:srgbClr val="000000"/>
                </a:solidFill>
                <a:effectLst/>
                <a:latin typeface="Times New Roman" panose="02020603050405020304" pitchFamily="18" charset="0"/>
                <a:ea typeface="Calibri" panose="020F0502020204030204" pitchFamily="34" charset="0"/>
                <a:cs typeface="Liberation Serif"/>
              </a:rPr>
              <a:t>The sampling unit for this study included heads of household farmers who practice urban farming in </a:t>
            </a:r>
            <a:r>
              <a:rPr lang="en-US" dirty="0" err="1" smtClean="0">
                <a:solidFill>
                  <a:srgbClr val="000000"/>
                </a:solidFill>
                <a:effectLst/>
                <a:latin typeface="Times New Roman" panose="02020603050405020304" pitchFamily="18" charset="0"/>
                <a:ea typeface="Calibri" panose="020F0502020204030204" pitchFamily="34" charset="0"/>
                <a:cs typeface="Liberation Serif"/>
              </a:rPr>
              <a:t>Mbeya</a:t>
            </a:r>
            <a:r>
              <a:rPr lang="en-US" dirty="0" smtClean="0">
                <a:solidFill>
                  <a:srgbClr val="000000"/>
                </a:solidFill>
                <a:effectLst/>
                <a:latin typeface="Times New Roman" panose="02020603050405020304" pitchFamily="18" charset="0"/>
                <a:ea typeface="Calibri" panose="020F0502020204030204" pitchFamily="34" charset="0"/>
                <a:cs typeface="Liberation Serif"/>
              </a:rPr>
              <a:t> City.</a:t>
            </a:r>
            <a:endParaRPr lang="en-US" dirty="0" smtClean="0">
              <a:solidFill>
                <a:srgbClr val="000000"/>
              </a:solidFill>
              <a:effectLst/>
              <a:latin typeface="Liberation Serif"/>
              <a:ea typeface="Calibri" panose="020F0502020204030204" pitchFamily="34" charset="0"/>
              <a:cs typeface="Liberation Serif"/>
            </a:endParaRPr>
          </a:p>
          <a:p>
            <a:pPr marL="342900" indent="-343535" algn="just">
              <a:lnSpc>
                <a:spcPct val="150000"/>
              </a:lnSpc>
              <a:spcAft>
                <a:spcPts val="800"/>
              </a:spcAft>
              <a:tabLst>
                <a:tab pos="342900" algn="l"/>
              </a:tabLst>
            </a:pPr>
            <a:r>
              <a:rPr lang="en-US" b="1" dirty="0" smtClean="0">
                <a:solidFill>
                  <a:srgbClr val="000000"/>
                </a:solidFill>
                <a:effectLst/>
                <a:latin typeface="Times New Roman" panose="02020603050405020304" pitchFamily="18" charset="0"/>
                <a:ea typeface="Times New Roman" panose="02020603050405020304" pitchFamily="18" charset="0"/>
              </a:rPr>
              <a:t>3.5.3 Sampling size</a:t>
            </a:r>
            <a:endParaRPr lang="en-US" b="1" dirty="0" smtClean="0">
              <a:effectLst/>
              <a:latin typeface="Times New Roman" panose="02020603050405020304" pitchFamily="18" charset="0"/>
              <a:ea typeface="Times New Roman" panose="02020603050405020304" pitchFamily="18" charset="0"/>
            </a:endParaRPr>
          </a:p>
          <a:p>
            <a:pPr algn="just">
              <a:lnSpc>
                <a:spcPct val="150000"/>
              </a:lnSpc>
              <a:spcAft>
                <a:spcPts val="800"/>
              </a:spcAft>
            </a:pPr>
            <a:r>
              <a:rPr lang="en-US" dirty="0" smtClean="0">
                <a:solidFill>
                  <a:srgbClr val="000000"/>
                </a:solidFill>
                <a:effectLst/>
                <a:latin typeface="Times New Roman" panose="02020603050405020304" pitchFamily="18" charset="0"/>
                <a:ea typeface="Calibri" panose="020F0502020204030204" pitchFamily="34" charset="0"/>
                <a:cs typeface="Liberation Serif"/>
              </a:rPr>
              <a:t>The sample size of 98 respondents from the </a:t>
            </a:r>
            <a:r>
              <a:rPr lang="en-US" dirty="0" err="1" smtClean="0">
                <a:solidFill>
                  <a:srgbClr val="000000"/>
                </a:solidFill>
                <a:effectLst/>
                <a:latin typeface="Times New Roman" panose="02020603050405020304" pitchFamily="18" charset="0"/>
                <a:ea typeface="Calibri" panose="020F0502020204030204" pitchFamily="34" charset="0"/>
                <a:cs typeface="Liberation Serif"/>
              </a:rPr>
              <a:t>Mbeya</a:t>
            </a:r>
            <a:r>
              <a:rPr lang="en-US" dirty="0" smtClean="0">
                <a:solidFill>
                  <a:srgbClr val="000000"/>
                </a:solidFill>
                <a:effectLst/>
                <a:latin typeface="Times New Roman" panose="02020603050405020304" pitchFamily="18" charset="0"/>
                <a:ea typeface="Calibri" panose="020F0502020204030204" pitchFamily="34" charset="0"/>
                <a:cs typeface="Liberation Serif"/>
              </a:rPr>
              <a:t> district. </a:t>
            </a:r>
          </a:p>
          <a:p>
            <a:pPr algn="just">
              <a:lnSpc>
                <a:spcPct val="150000"/>
              </a:lnSpc>
              <a:spcAft>
                <a:spcPts val="800"/>
              </a:spcAft>
            </a:pPr>
            <a:endParaRPr lang="en-US" sz="1600" dirty="0" smtClean="0">
              <a:effectLst/>
              <a:latin typeface="Calibri" panose="020F0502020204030204" pitchFamily="34" charset="0"/>
              <a:ea typeface="Calibri" panose="020F0502020204030204" pitchFamily="34" charset="0"/>
              <a:cs typeface="SimSun" panose="02010600030101010101" pitchFamily="2" charset="-122"/>
            </a:endParaRPr>
          </a:p>
        </p:txBody>
      </p:sp>
      <p:sp>
        <p:nvSpPr>
          <p:cNvPr id="4" name="Rectangle 3"/>
          <p:cNvSpPr/>
          <p:nvPr/>
        </p:nvSpPr>
        <p:spPr>
          <a:xfrm>
            <a:off x="5468822" y="4589294"/>
            <a:ext cx="6420592" cy="1903085"/>
          </a:xfrm>
          <a:prstGeom prst="rect">
            <a:avLst/>
          </a:prstGeom>
        </p:spPr>
        <p:txBody>
          <a:bodyPr wrap="square">
            <a:spAutoFit/>
          </a:bodyPr>
          <a:lstStyle/>
          <a:p>
            <a:pPr marL="342900" indent="-343535" algn="just">
              <a:lnSpc>
                <a:spcPct val="150000"/>
              </a:lnSpc>
              <a:spcAft>
                <a:spcPts val="800"/>
              </a:spcAft>
              <a:tabLst>
                <a:tab pos="342900" algn="l"/>
              </a:tabLst>
            </a:pPr>
            <a:r>
              <a:rPr lang="en-US" sz="2000" b="1" dirty="0" smtClean="0">
                <a:solidFill>
                  <a:srgbClr val="000000"/>
                </a:solidFill>
                <a:effectLst/>
                <a:latin typeface="Times New Roman" panose="02020603050405020304" pitchFamily="18" charset="0"/>
                <a:ea typeface="Times New Roman" panose="02020603050405020304" pitchFamily="18" charset="0"/>
              </a:rPr>
              <a:t>Sampling procedures </a:t>
            </a:r>
            <a:endParaRPr lang="en-US" sz="2000" b="1" dirty="0" smtClean="0">
              <a:effectLst/>
              <a:latin typeface="Times New Roman" panose="02020603050405020304" pitchFamily="18" charset="0"/>
              <a:ea typeface="Times New Roman" panose="02020603050405020304" pitchFamily="18" charset="0"/>
            </a:endParaRPr>
          </a:p>
          <a:p>
            <a:pPr algn="just">
              <a:lnSpc>
                <a:spcPct val="150000"/>
              </a:lnSpc>
            </a:pPr>
            <a:r>
              <a:rPr lang="en-US" dirty="0" smtClean="0">
                <a:solidFill>
                  <a:srgbClr val="000000"/>
                </a:solidFill>
                <a:effectLst/>
                <a:latin typeface="Times New Roman" panose="02020603050405020304" pitchFamily="18" charset="0"/>
                <a:ea typeface="Calibri" panose="020F0502020204030204" pitchFamily="34" charset="0"/>
              </a:rPr>
              <a:t>The reason for using this sampling procedure is to ensure that the research study obtains a representative sample of urban farming farmers in </a:t>
            </a:r>
            <a:r>
              <a:rPr lang="en-US" dirty="0" err="1" smtClean="0">
                <a:solidFill>
                  <a:srgbClr val="000000"/>
                </a:solidFill>
                <a:effectLst/>
                <a:latin typeface="Times New Roman" panose="02020603050405020304" pitchFamily="18" charset="0"/>
                <a:ea typeface="Calibri" panose="020F0502020204030204" pitchFamily="34" charset="0"/>
              </a:rPr>
              <a:t>Mbeya</a:t>
            </a:r>
            <a:r>
              <a:rPr lang="en-US" dirty="0" smtClean="0">
                <a:solidFill>
                  <a:srgbClr val="000000"/>
                </a:solidFill>
                <a:effectLst/>
                <a:latin typeface="Times New Roman" panose="02020603050405020304" pitchFamily="18" charset="0"/>
                <a:ea typeface="Calibri" panose="020F0502020204030204" pitchFamily="34" charset="0"/>
              </a:rPr>
              <a:t> city. </a:t>
            </a:r>
            <a:endParaRPr lang="en-US" dirty="0"/>
          </a:p>
        </p:txBody>
      </p:sp>
      <p:sp>
        <p:nvSpPr>
          <p:cNvPr id="6" name="Rectangle 5"/>
          <p:cNvSpPr/>
          <p:nvPr/>
        </p:nvSpPr>
        <p:spPr>
          <a:xfrm>
            <a:off x="5468823" y="454828"/>
            <a:ext cx="6420592" cy="3447098"/>
          </a:xfrm>
          <a:prstGeom prst="rect">
            <a:avLst/>
          </a:prstGeom>
        </p:spPr>
        <p:txBody>
          <a:bodyPr wrap="square">
            <a:spAutoFit/>
          </a:bodyPr>
          <a:lstStyle/>
          <a:p>
            <a:pPr algn="just">
              <a:spcAft>
                <a:spcPts val="800"/>
              </a:spcAft>
            </a:pPr>
            <a:r>
              <a:rPr lang="en-US" dirty="0" smtClean="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To calculate the sample size, we need to use the following formula:</a:t>
            </a:r>
            <a:endParaRPr lang="en-US" sz="1400" dirty="0" smtClean="0">
              <a:effectLst/>
              <a:latin typeface="Calibri" panose="020F0502020204030204" pitchFamily="34" charset="0"/>
              <a:ea typeface="Calibri" panose="020F0502020204030204" pitchFamily="34" charset="0"/>
              <a:cs typeface="SimSun" panose="02010600030101010101" pitchFamily="2" charset="-122"/>
            </a:endParaRPr>
          </a:p>
          <a:p>
            <a:pPr algn="just">
              <a:spcAft>
                <a:spcPts val="800"/>
              </a:spcAft>
            </a:pPr>
            <a:r>
              <a:rPr lang="en-US" dirty="0" smtClean="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n = N / (1 + N (e</a:t>
            </a:r>
            <a:r>
              <a:rPr lang="en-US" baseline="30000" dirty="0" smtClean="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2</a:t>
            </a:r>
            <a:r>
              <a:rPr lang="en-US" dirty="0" smtClean="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a:t>
            </a:r>
            <a:endParaRPr lang="en-US" sz="1400" dirty="0" smtClean="0">
              <a:effectLst/>
              <a:latin typeface="Calibri" panose="020F0502020204030204" pitchFamily="34" charset="0"/>
              <a:ea typeface="Calibri" panose="020F0502020204030204" pitchFamily="34" charset="0"/>
              <a:cs typeface="SimSun" panose="02010600030101010101" pitchFamily="2" charset="-122"/>
            </a:endParaRPr>
          </a:p>
          <a:p>
            <a:pPr algn="just">
              <a:spcAft>
                <a:spcPts val="800"/>
              </a:spcAft>
            </a:pPr>
            <a:r>
              <a:rPr lang="en-US" dirty="0" smtClean="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Where:</a:t>
            </a:r>
          </a:p>
          <a:p>
            <a:r>
              <a:rPr lang="en-US" dirty="0" smtClean="0">
                <a:latin typeface="Times New Roman" panose="02020603050405020304" pitchFamily="18" charset="0"/>
                <a:cs typeface="Times New Roman" panose="02020603050405020304" pitchFamily="18" charset="0"/>
              </a:rPr>
              <a:t>n = sample size</a:t>
            </a:r>
          </a:p>
          <a:p>
            <a:r>
              <a:rPr lang="en-US" dirty="0" smtClean="0">
                <a:latin typeface="Times New Roman" panose="02020603050405020304" pitchFamily="18" charset="0"/>
                <a:cs typeface="Times New Roman" panose="02020603050405020304" pitchFamily="18" charset="0"/>
              </a:rPr>
              <a:t>N = population size</a:t>
            </a:r>
          </a:p>
          <a:p>
            <a:r>
              <a:rPr lang="en-US" dirty="0" smtClean="0">
                <a:latin typeface="Times New Roman" panose="02020603050405020304" pitchFamily="18" charset="0"/>
                <a:cs typeface="Times New Roman" panose="02020603050405020304" pitchFamily="18" charset="0"/>
              </a:rPr>
              <a:t>e = margin of error (expressed as a decimal)</a:t>
            </a:r>
          </a:p>
          <a:p>
            <a:r>
              <a:rPr lang="en-US" dirty="0" smtClean="0">
                <a:latin typeface="Times New Roman" panose="02020603050405020304" pitchFamily="18" charset="0"/>
                <a:cs typeface="Times New Roman" panose="02020603050405020304" pitchFamily="18" charset="0"/>
              </a:rPr>
              <a:t>Assuming a 90% confidence level and a margin of error of 10%, </a:t>
            </a:r>
          </a:p>
          <a:p>
            <a:r>
              <a:rPr lang="en-US" dirty="0" smtClean="0">
                <a:latin typeface="Times New Roman" panose="02020603050405020304" pitchFamily="18" charset="0"/>
                <a:cs typeface="Times New Roman" panose="02020603050405020304" pitchFamily="18" charset="0"/>
              </a:rPr>
              <a:t>So, using the formula:</a:t>
            </a:r>
          </a:p>
          <a:p>
            <a:r>
              <a:rPr lang="en-US" dirty="0" smtClean="0">
                <a:latin typeface="Times New Roman" panose="02020603050405020304" pitchFamily="18" charset="0"/>
                <a:cs typeface="Times New Roman" panose="02020603050405020304" pitchFamily="18" charset="0"/>
              </a:rPr>
              <a:t>n = N / (1 + N (e</a:t>
            </a:r>
            <a:r>
              <a:rPr lang="en-US" baseline="30000" dirty="0" smtClean="0">
                <a:latin typeface="Times New Roman" panose="02020603050405020304" pitchFamily="18" charset="0"/>
                <a:cs typeface="Times New Roman" panose="02020603050405020304" pitchFamily="18" charset="0"/>
              </a:rPr>
              <a:t>2</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n = 7528 / (1 + 7528 (0.1</a:t>
            </a:r>
            <a:r>
              <a:rPr lang="en-US" baseline="30000" dirty="0" smtClean="0">
                <a:latin typeface="Times New Roman" panose="02020603050405020304" pitchFamily="18" charset="0"/>
                <a:cs typeface="Times New Roman" panose="02020603050405020304" pitchFamily="18" charset="0"/>
              </a:rPr>
              <a:t>2</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n = 98</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7299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2195" y="-136128"/>
            <a:ext cx="7605095" cy="800219"/>
          </a:xfrm>
          <a:prstGeom prst="rect">
            <a:avLst/>
          </a:prstGeom>
        </p:spPr>
        <p:txBody>
          <a:bodyPr wrap="none">
            <a:spAutoFit/>
          </a:bodyPr>
          <a:lstStyle/>
          <a:p>
            <a:pPr marL="342900" indent="-343535" algn="just">
              <a:lnSpc>
                <a:spcPct val="200000"/>
              </a:lnSpc>
              <a:spcAft>
                <a:spcPts val="800"/>
              </a:spcAft>
              <a:tabLst>
                <a:tab pos="342900" algn="l"/>
              </a:tabLst>
            </a:pPr>
            <a:r>
              <a:rPr lang="en-US" sz="2300" b="1" dirty="0" smtClean="0">
                <a:solidFill>
                  <a:srgbClr val="000000"/>
                </a:solidFill>
                <a:effectLst/>
                <a:latin typeface="Times New Roman" panose="02020603050405020304" pitchFamily="18" charset="0"/>
                <a:ea typeface="Times New Roman" panose="02020603050405020304" pitchFamily="18" charset="0"/>
              </a:rPr>
              <a:t>DATA PROCESSING, ANALYSIS AND PRESENTATION</a:t>
            </a:r>
            <a:endParaRPr lang="en-US" sz="2300" b="1" dirty="0">
              <a:effectLst/>
              <a:latin typeface="Times New Roman" panose="02020603050405020304" pitchFamily="18" charset="0"/>
              <a:ea typeface="Times New Roman" panose="02020603050405020304" pitchFamily="18" charset="0"/>
            </a:endParaRPr>
          </a:p>
        </p:txBody>
      </p:sp>
      <p:sp>
        <p:nvSpPr>
          <p:cNvPr id="3" name="Rectangle 2"/>
          <p:cNvSpPr/>
          <p:nvPr/>
        </p:nvSpPr>
        <p:spPr>
          <a:xfrm>
            <a:off x="237506" y="603053"/>
            <a:ext cx="11768447" cy="5868273"/>
          </a:xfrm>
          <a:prstGeom prst="rect">
            <a:avLst/>
          </a:prstGeom>
        </p:spPr>
        <p:txBody>
          <a:bodyPr wrap="square">
            <a:spAutoFit/>
          </a:bodyPr>
          <a:lstStyle/>
          <a:p>
            <a:pPr marL="342900" indent="-343535" algn="just">
              <a:lnSpc>
                <a:spcPct val="150000"/>
              </a:lnSpc>
              <a:spcAft>
                <a:spcPts val="800"/>
              </a:spcAft>
              <a:tabLst>
                <a:tab pos="342900" algn="l"/>
              </a:tabLst>
            </a:pPr>
            <a:r>
              <a:rPr lang="en-US" sz="1900" b="1" dirty="0" smtClean="0">
                <a:solidFill>
                  <a:srgbClr val="000000"/>
                </a:solidFill>
                <a:effectLst/>
                <a:latin typeface="Times New Roman" panose="02020603050405020304" pitchFamily="18" charset="0"/>
                <a:ea typeface="Times New Roman" panose="02020603050405020304" pitchFamily="18" charset="0"/>
              </a:rPr>
              <a:t>Data Processing</a:t>
            </a:r>
            <a:endParaRPr lang="en-US" sz="1900" b="1" dirty="0" smtClean="0">
              <a:effectLst/>
              <a:latin typeface="Times New Roman" panose="02020603050405020304" pitchFamily="18" charset="0"/>
              <a:ea typeface="Times New Roman" panose="02020603050405020304" pitchFamily="18" charset="0"/>
            </a:endParaRPr>
          </a:p>
          <a:p>
            <a:pPr algn="just">
              <a:lnSpc>
                <a:spcPct val="150000"/>
              </a:lnSpc>
              <a:spcAft>
                <a:spcPts val="800"/>
              </a:spcAft>
            </a:pPr>
            <a:r>
              <a:rPr lang="en-US" sz="1900" dirty="0" smtClean="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The data collected from the questionnaires were checked for completeness, coded, and entered into a statistical package for social sciences (SPSS) for analysis. The data were cleaned to eliminate any inconsistencies, errors, or missing values. The cleaned data were then be transformed into suitable formats for analysis.</a:t>
            </a:r>
            <a:endParaRPr lang="en-US" sz="1900" dirty="0" smtClean="0">
              <a:effectLst/>
              <a:latin typeface="Calibri" panose="020F0502020204030204" pitchFamily="34" charset="0"/>
              <a:ea typeface="Calibri" panose="020F0502020204030204" pitchFamily="34" charset="0"/>
              <a:cs typeface="SimSun" panose="02010600030101010101" pitchFamily="2" charset="-122"/>
            </a:endParaRPr>
          </a:p>
          <a:p>
            <a:pPr marL="342900" indent="-343535" algn="just">
              <a:lnSpc>
                <a:spcPct val="150000"/>
              </a:lnSpc>
              <a:spcAft>
                <a:spcPts val="800"/>
              </a:spcAft>
              <a:tabLst>
                <a:tab pos="342900" algn="l"/>
              </a:tabLst>
            </a:pPr>
            <a:r>
              <a:rPr lang="en-US" sz="1900" b="1" dirty="0" smtClean="0">
                <a:solidFill>
                  <a:srgbClr val="000000"/>
                </a:solidFill>
                <a:effectLst/>
                <a:latin typeface="Times New Roman" panose="02020603050405020304" pitchFamily="18" charset="0"/>
                <a:ea typeface="Times New Roman" panose="02020603050405020304" pitchFamily="18" charset="0"/>
              </a:rPr>
              <a:t>3.6.2 Data Analysis </a:t>
            </a:r>
            <a:endParaRPr lang="en-US" sz="1900" b="1" dirty="0" smtClean="0">
              <a:effectLst/>
              <a:latin typeface="Times New Roman" panose="02020603050405020304" pitchFamily="18" charset="0"/>
              <a:ea typeface="Times New Roman" panose="02020603050405020304" pitchFamily="18" charset="0"/>
            </a:endParaRPr>
          </a:p>
          <a:p>
            <a:pPr algn="just">
              <a:lnSpc>
                <a:spcPct val="150000"/>
              </a:lnSpc>
              <a:spcAft>
                <a:spcPts val="800"/>
              </a:spcAft>
            </a:pPr>
            <a:r>
              <a:rPr lang="en-US" sz="1900" dirty="0" smtClean="0">
                <a:solidFill>
                  <a:srgbClr val="000000"/>
                </a:solidFill>
                <a:effectLst/>
                <a:latin typeface="Times New Roman" panose="02020603050405020304" pitchFamily="18" charset="0"/>
                <a:ea typeface="Calibri" panose="020F0502020204030204" pitchFamily="34" charset="0"/>
                <a:cs typeface="Liberation Serif"/>
              </a:rPr>
              <a:t>The data were analyzed using descriptive statistical techniques. Descriptive statistics such as frequencies, percentages, means, and standard deviations were used to summarize the data.</a:t>
            </a:r>
            <a:endParaRPr lang="en-US" sz="1900" dirty="0" smtClean="0">
              <a:solidFill>
                <a:srgbClr val="000000"/>
              </a:solidFill>
              <a:effectLst/>
              <a:latin typeface="Liberation Serif"/>
              <a:ea typeface="Calibri" panose="020F0502020204030204" pitchFamily="34" charset="0"/>
              <a:cs typeface="Liberation Serif"/>
            </a:endParaRPr>
          </a:p>
          <a:p>
            <a:pPr marL="342900" indent="-343535" algn="just">
              <a:lnSpc>
                <a:spcPct val="150000"/>
              </a:lnSpc>
              <a:spcAft>
                <a:spcPts val="800"/>
              </a:spcAft>
              <a:tabLst>
                <a:tab pos="342900" algn="l"/>
              </a:tabLst>
            </a:pPr>
            <a:r>
              <a:rPr lang="en-US" sz="1900" b="1" dirty="0" smtClean="0">
                <a:solidFill>
                  <a:srgbClr val="000000"/>
                </a:solidFill>
                <a:effectLst/>
                <a:latin typeface="Times New Roman" panose="02020603050405020304" pitchFamily="18" charset="0"/>
                <a:ea typeface="Times New Roman" panose="02020603050405020304" pitchFamily="18" charset="0"/>
              </a:rPr>
              <a:t>3.6.3 Data Presentation </a:t>
            </a:r>
            <a:endParaRPr lang="en-US" sz="1900" b="1" dirty="0" smtClean="0">
              <a:effectLst/>
              <a:latin typeface="Times New Roman" panose="02020603050405020304" pitchFamily="18" charset="0"/>
              <a:ea typeface="Times New Roman" panose="02020603050405020304" pitchFamily="18" charset="0"/>
            </a:endParaRPr>
          </a:p>
          <a:p>
            <a:pPr algn="just">
              <a:lnSpc>
                <a:spcPct val="150000"/>
              </a:lnSpc>
              <a:spcAft>
                <a:spcPts val="800"/>
              </a:spcAft>
            </a:pPr>
            <a:r>
              <a:rPr lang="en-US" sz="1900" dirty="0" smtClean="0">
                <a:solidFill>
                  <a:srgbClr val="000000"/>
                </a:solidFill>
                <a:effectLst/>
                <a:latin typeface="Times New Roman" panose="02020603050405020304" pitchFamily="18" charset="0"/>
                <a:ea typeface="Calibri" panose="020F0502020204030204" pitchFamily="34" charset="0"/>
                <a:cs typeface="Liberation Serif"/>
              </a:rPr>
              <a:t>The findings of the study were presented using tables, charts, and graphs. The results were presented clearly and concisely to facilitate easy understanding. The results were presented according to the research questions and objectives. The researcher used qualitative and quantitative data to support the findings. The researcher also presented the results of the study in the context of the relevant literature reviewed in chapter two of the research proposal.</a:t>
            </a:r>
            <a:endParaRPr lang="en-US" sz="1900" dirty="0">
              <a:solidFill>
                <a:srgbClr val="000000"/>
              </a:solidFill>
              <a:effectLst/>
              <a:latin typeface="Liberation Serif"/>
              <a:ea typeface="Calibri" panose="020F0502020204030204" pitchFamily="34" charset="0"/>
              <a:cs typeface="Liberation Serif"/>
            </a:endParaRPr>
          </a:p>
        </p:txBody>
      </p:sp>
    </p:spTree>
    <p:extLst>
      <p:ext uri="{BB962C8B-B14F-4D97-AF65-F5344CB8AC3E}">
        <p14:creationId xmlns:p14="http://schemas.microsoft.com/office/powerpoint/2010/main" val="41570059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42939" y="-181104"/>
            <a:ext cx="4251100" cy="725648"/>
          </a:xfrm>
          <a:prstGeom prst="rect">
            <a:avLst/>
          </a:prstGeom>
        </p:spPr>
        <p:txBody>
          <a:bodyPr wrap="none">
            <a:spAutoFit/>
          </a:bodyPr>
          <a:lstStyle/>
          <a:p>
            <a:pPr algn="ctr">
              <a:lnSpc>
                <a:spcPct val="200000"/>
              </a:lnSpc>
              <a:spcBef>
                <a:spcPts val="1200"/>
              </a:spcBef>
              <a:spcAft>
                <a:spcPts val="800"/>
              </a:spcAft>
            </a:pPr>
            <a:r>
              <a:rPr lang="en-US" sz="2400" b="1" kern="1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RESULTS AND DISCUSSION</a:t>
            </a:r>
            <a:endParaRPr lang="en-US" sz="3200" b="1" kern="100" dirty="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3" name="Rectangle 2"/>
          <p:cNvSpPr/>
          <p:nvPr/>
        </p:nvSpPr>
        <p:spPr>
          <a:xfrm>
            <a:off x="0" y="544544"/>
            <a:ext cx="4641014" cy="369332"/>
          </a:xfrm>
          <a:prstGeom prst="rect">
            <a:avLst/>
          </a:prstGeom>
        </p:spPr>
        <p:txBody>
          <a:bodyPr wrap="none">
            <a:spAutoFit/>
          </a:bodyPr>
          <a:lstStyle/>
          <a:p>
            <a:r>
              <a:rPr lang="en-US" b="1"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Demographic Characteristics of Respondents</a:t>
            </a:r>
            <a:endParaRPr lang="en-US" b="1" dirty="0">
              <a:latin typeface="Times New Roman" panose="02020603050405020304" pitchFamily="18" charset="0"/>
              <a:cs typeface="Times New Roman" panose="02020603050405020304" pitchFamily="18" charset="0"/>
            </a:endParaRPr>
          </a:p>
        </p:txBody>
      </p:sp>
      <p:sp>
        <p:nvSpPr>
          <p:cNvPr id="4" name="Rectangle 3"/>
          <p:cNvSpPr/>
          <p:nvPr/>
        </p:nvSpPr>
        <p:spPr>
          <a:xfrm>
            <a:off x="121527" y="814383"/>
            <a:ext cx="6096000" cy="5765681"/>
          </a:xfrm>
          <a:prstGeom prst="rect">
            <a:avLst/>
          </a:prstGeom>
        </p:spPr>
        <p:txBody>
          <a:bodyPr>
            <a:spAutoFit/>
          </a:bodyPr>
          <a:lstStyle/>
          <a:p>
            <a:pPr algn="just">
              <a:lnSpc>
                <a:spcPct val="200000"/>
              </a:lnSpc>
              <a:spcAft>
                <a:spcPts val="800"/>
              </a:spcAft>
            </a:pPr>
            <a:r>
              <a:rPr lang="en-US" sz="1600" b="1"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Age of the Respondents</a:t>
            </a:r>
            <a:endParaRPr lang="en-US" sz="14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gn="just"/>
            <a:r>
              <a:rPr lang="en-US" sz="16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frequency table indicates that the majority of the respondents are within the age group of 18-29 years, accounting for 31.6% of the total sample (Table 1). The second largest group falls within the 30-45 years range, representing 27.6%. Respondents aged 46-55 years make up 22.4%, while those aged 56 years and above constitute the smallest group at 18.4% (Table 1). </a:t>
            </a:r>
          </a:p>
          <a:p>
            <a:pPr algn="just"/>
            <a:r>
              <a:rPr lang="en-US" sz="1600" b="1" dirty="0">
                <a:latin typeface="Times New Roman" panose="02020603050405020304" pitchFamily="18" charset="0"/>
                <a:cs typeface="Times New Roman" panose="02020603050405020304" pitchFamily="18" charset="0"/>
              </a:rPr>
              <a:t>Sex of Respondents</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The distribution of respondents by sex reveals that males comprise 55.1% of the sample, while females make up 44.9% (Table 1). The near-even distribution suggests a relatively balanced gender participation in urban farming activities. </a:t>
            </a:r>
            <a:endParaRPr lang="en-US" sz="1600" dirty="0" smtClean="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Marital Status of Respondents</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Regarding marital status, 30.6% of respondents are single, 28.6% are married, 21.4% are widows or widowers, and 19.4% are separated (Table 1). </a:t>
            </a:r>
            <a:endParaRPr lang="en-US" sz="1600" dirty="0" smtClean="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Education Level of Respondents</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The education level distribution shows that 29.6% of respondents have an undergraduate degree, followed by 27.6% with primary education (Table 1). Both secondary and college education levels account for 21.4% each as shown on Table 1. </a:t>
            </a:r>
          </a:p>
        </p:txBody>
      </p:sp>
      <p:sp>
        <p:nvSpPr>
          <p:cNvPr id="5" name="Rectangle 4"/>
          <p:cNvSpPr/>
          <p:nvPr/>
        </p:nvSpPr>
        <p:spPr>
          <a:xfrm>
            <a:off x="6217527" y="287725"/>
            <a:ext cx="6096000" cy="1426031"/>
          </a:xfrm>
          <a:prstGeom prst="rect">
            <a:avLst/>
          </a:prstGeom>
        </p:spPr>
        <p:txBody>
          <a:bodyPr>
            <a:spAutoFit/>
          </a:bodyPr>
          <a:lstStyle/>
          <a:p>
            <a:pPr algn="just">
              <a:lnSpc>
                <a:spcPct val="200000"/>
              </a:lnSpc>
              <a:spcAft>
                <a:spcPts val="800"/>
              </a:spcAft>
            </a:pPr>
            <a:r>
              <a:rPr lang="en-US" sz="1600" b="1" dirty="0" smtClean="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Years of Experience in Urban Farming</a:t>
            </a:r>
            <a:endParaRPr lang="en-US" sz="1400" dirty="0" smtClean="0">
              <a:effectLst/>
              <a:latin typeface="Calibri" panose="020F0502020204030204" pitchFamily="34" charset="0"/>
              <a:ea typeface="Calibri" panose="020F0502020204030204" pitchFamily="34" charset="0"/>
              <a:cs typeface="SimSun" panose="02010600030101010101" pitchFamily="2" charset="-122"/>
            </a:endParaRPr>
          </a:p>
          <a:p>
            <a:pPr algn="just"/>
            <a:r>
              <a:rPr lang="en-US" sz="1600" dirty="0" smtClean="0">
                <a:solidFill>
                  <a:srgbClr val="000000"/>
                </a:solidFill>
                <a:effectLst/>
                <a:latin typeface="Times New Roman" panose="02020603050405020304" pitchFamily="18" charset="0"/>
                <a:ea typeface="Calibri" panose="020F0502020204030204" pitchFamily="34" charset="0"/>
              </a:rPr>
              <a:t>The results showed that 39.8% of respondents have 1-5 years of experience in urban farming, followed by 30.6% with 6-10 years, and 29.6% with over 10 years of experience (Table 1). </a:t>
            </a:r>
            <a:endParaRPr lang="en-US" sz="1600" dirty="0"/>
          </a:p>
        </p:txBody>
      </p:sp>
      <p:graphicFrame>
        <p:nvGraphicFramePr>
          <p:cNvPr id="6" name="Table 5"/>
          <p:cNvGraphicFramePr>
            <a:graphicFrameLocks noGrp="1"/>
          </p:cNvGraphicFramePr>
          <p:nvPr>
            <p:extLst>
              <p:ext uri="{D42A27DB-BD31-4B8C-83A1-F6EECF244321}">
                <p14:modId xmlns:p14="http://schemas.microsoft.com/office/powerpoint/2010/main" val="1468330180"/>
              </p:ext>
            </p:extLst>
          </p:nvPr>
        </p:nvGraphicFramePr>
        <p:xfrm>
          <a:off x="6339054" y="1816931"/>
          <a:ext cx="5702524" cy="5020383"/>
        </p:xfrm>
        <a:graphic>
          <a:graphicData uri="http://schemas.openxmlformats.org/drawingml/2006/table">
            <a:tbl>
              <a:tblPr firstRow="1" firstCol="1" bandRow="1"/>
              <a:tblGrid>
                <a:gridCol w="1595398"/>
                <a:gridCol w="1349952"/>
                <a:gridCol w="1378587"/>
                <a:gridCol w="1378587"/>
              </a:tblGrid>
              <a:tr h="220773">
                <a:tc rowSpan="2">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Variable</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Description</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Responses</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r>
              <a:tr h="220773">
                <a:tc vMerge="1">
                  <a:txBody>
                    <a:bodyPr/>
                    <a:lstStyle/>
                    <a:p>
                      <a:endParaRPr lang="en-US"/>
                    </a:p>
                  </a:txBody>
                  <a:tcPr/>
                </a:tc>
                <a:tc vMerge="1">
                  <a:txBody>
                    <a:bodyPr/>
                    <a:lstStyle/>
                    <a:p>
                      <a:endParaRPr lang="en-US"/>
                    </a:p>
                  </a:txBody>
                  <a:tcPr/>
                </a:tc>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Frequency</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Percentage</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0773">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Sex</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Male</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54</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55.1</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w="12700" cap="flat" cmpd="sng" algn="ctr">
                      <a:solidFill>
                        <a:srgbClr val="000000"/>
                      </a:solidFill>
                      <a:prstDash val="solid"/>
                      <a:round/>
                      <a:headEnd type="none" w="med" len="med"/>
                      <a:tailEnd type="none" w="med" len="med"/>
                    </a:lnT>
                    <a:lnB>
                      <a:noFill/>
                    </a:lnB>
                  </a:tcPr>
                </a:tc>
              </a:tr>
              <a:tr h="220773">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 </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Female</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44</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44.9</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r>
              <a:tr h="220773">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Age (years)</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18 - 29 </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31</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31.6</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r>
              <a:tr h="220773">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 </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30 - 45 </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27</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27.6</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r>
              <a:tr h="220773">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 </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46 - 55 </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22</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22.4</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r>
              <a:tr h="220773">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 </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56 </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18</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18.4</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r>
              <a:tr h="220773">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Marital status</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Single</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30</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30.6</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r>
              <a:tr h="220773">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 </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Married</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28</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28.6</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r>
              <a:tr h="220773">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 </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Widow/widower</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21</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21.4</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r>
              <a:tr h="220773">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 </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Separated</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19</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19.4</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r>
              <a:tr h="441546">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Education level</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Primary education</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27</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27.6</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r>
              <a:tr h="441546">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 </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Secondary education</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21</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21.4</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r>
              <a:tr h="441546">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 </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College education</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21</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21.4</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r>
              <a:tr h="220773">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 </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Undergraduate</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29</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29.6</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r>
              <a:tr h="220773">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Years of experience </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1-5 years</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39</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39.8</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r>
              <a:tr h="220773">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 </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6-10 years</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30</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30.6</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a:noFill/>
                    </a:lnB>
                  </a:tcPr>
                </a:tc>
              </a:tr>
              <a:tr h="220773">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 </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10 years above</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400">
                          <a:solidFill>
                            <a:srgbClr val="000000"/>
                          </a:solidFill>
                          <a:effectLst/>
                          <a:latin typeface="Times New Roman" panose="02020603050405020304" pitchFamily="18" charset="0"/>
                          <a:ea typeface="Calibri" panose="020F0502020204030204" pitchFamily="34" charset="0"/>
                          <a:cs typeface="Liberation Serif"/>
                        </a:rPr>
                        <a:t>29</a:t>
                      </a:r>
                      <a:endParaRPr lang="en-US" sz="140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400" dirty="0">
                          <a:solidFill>
                            <a:srgbClr val="000000"/>
                          </a:solidFill>
                          <a:effectLst/>
                          <a:latin typeface="Times New Roman" panose="02020603050405020304" pitchFamily="18" charset="0"/>
                          <a:ea typeface="Calibri" panose="020F0502020204030204" pitchFamily="34" charset="0"/>
                          <a:cs typeface="Liberation Serif"/>
                        </a:rPr>
                        <a:t>29.6</a:t>
                      </a:r>
                      <a:endParaRPr lang="en-US" sz="1400" dirty="0">
                        <a:solidFill>
                          <a:srgbClr val="000000"/>
                        </a:solidFill>
                        <a:effectLst/>
                        <a:latin typeface="Liberation Serif"/>
                        <a:ea typeface="Calibri" panose="020F0502020204030204" pitchFamily="34" charset="0"/>
                        <a:cs typeface="Liberation Serif"/>
                      </a:endParaRPr>
                    </a:p>
                  </a:txBody>
                  <a:tcPr marL="67567" marR="67567" marT="0" marB="0">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5378396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201080"/>
            <a:ext cx="6096001" cy="2790508"/>
          </a:xfrm>
          <a:prstGeom prst="rect">
            <a:avLst/>
          </a:prstGeom>
        </p:spPr>
        <p:txBody>
          <a:bodyPr wrap="square">
            <a:spAutoFit/>
          </a:bodyPr>
          <a:lstStyle/>
          <a:p>
            <a:pPr marL="342900" indent="-343535">
              <a:spcAft>
                <a:spcPts val="800"/>
              </a:spcAft>
              <a:tabLst>
                <a:tab pos="342900" algn="l"/>
              </a:tabLst>
            </a:pPr>
            <a:r>
              <a:rPr lang="en-US" b="1" dirty="0" smtClean="0">
                <a:solidFill>
                  <a:srgbClr val="000000"/>
                </a:solidFill>
                <a:effectLst/>
                <a:latin typeface="Times New Roman" panose="02020603050405020304" pitchFamily="18" charset="0"/>
                <a:ea typeface="Times New Roman" panose="02020603050405020304" pitchFamily="18" charset="0"/>
              </a:rPr>
              <a:t>Urban Agriculture Practices in the Study Area (objective 01)</a:t>
            </a:r>
            <a:endParaRPr lang="en-US" b="1" dirty="0" smtClean="0">
              <a:effectLst/>
              <a:latin typeface="Times New Roman" panose="02020603050405020304" pitchFamily="18" charset="0"/>
              <a:ea typeface="Times New Roman" panose="02020603050405020304" pitchFamily="18" charset="0"/>
            </a:endParaRPr>
          </a:p>
          <a:p>
            <a:pPr marL="342900" indent="-343535" algn="just">
              <a:spcAft>
                <a:spcPts val="800"/>
              </a:spcAft>
              <a:tabLst>
                <a:tab pos="342900" algn="l"/>
              </a:tabLst>
            </a:pPr>
            <a:r>
              <a:rPr lang="en-US" b="1" dirty="0" smtClean="0">
                <a:solidFill>
                  <a:srgbClr val="000000"/>
                </a:solidFill>
                <a:effectLst/>
                <a:latin typeface="Times New Roman" panose="02020603050405020304" pitchFamily="18" charset="0"/>
                <a:ea typeface="Times New Roman" panose="02020603050405020304" pitchFamily="18" charset="0"/>
              </a:rPr>
              <a:t>Types of crops and livestock </a:t>
            </a:r>
            <a:endParaRPr lang="en-US" b="1" dirty="0" smtClean="0">
              <a:effectLst/>
              <a:latin typeface="Times New Roman" panose="02020603050405020304" pitchFamily="18" charset="0"/>
              <a:ea typeface="Times New Roman" panose="02020603050405020304" pitchFamily="18" charset="0"/>
            </a:endParaRPr>
          </a:p>
          <a:p>
            <a:pPr algn="just"/>
            <a:r>
              <a:rPr lang="en-US" dirty="0" smtClean="0">
                <a:solidFill>
                  <a:srgbClr val="000000"/>
                </a:solidFill>
                <a:effectLst/>
                <a:latin typeface="Times New Roman" panose="02020603050405020304" pitchFamily="18" charset="0"/>
                <a:ea typeface="Calibri" panose="020F0502020204030204" pitchFamily="34" charset="0"/>
              </a:rPr>
              <a:t>The dichotomy group analysis of livestock types kept by the farmers indicates that pigs are the most commonly harvested livestock, accounting for 16.7% of the total responses and 55.7% of the cases (Table 2). Rabbits (15.4%), goats (15.1%), and ducks (14.8%) also represent significant portions, with chickens, cattle, and sheep being less prominent as shown in table 2. </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1338018804"/>
              </p:ext>
            </p:extLst>
          </p:nvPr>
        </p:nvGraphicFramePr>
        <p:xfrm>
          <a:off x="130629" y="2991587"/>
          <a:ext cx="5795158" cy="3569113"/>
        </p:xfrm>
        <a:graphic>
          <a:graphicData uri="http://schemas.openxmlformats.org/drawingml/2006/table">
            <a:tbl>
              <a:tblPr/>
              <a:tblGrid>
                <a:gridCol w="2204577"/>
                <a:gridCol w="2204577"/>
                <a:gridCol w="693002"/>
                <a:gridCol w="693002"/>
              </a:tblGrid>
              <a:tr h="327239">
                <a:tc rowSpan="2" gridSpan="2">
                  <a:txBody>
                    <a:bodyPr/>
                    <a:lstStyle/>
                    <a:p>
                      <a:pPr algn="just">
                        <a:lnSpc>
                          <a:spcPct val="107000"/>
                        </a:lnSpc>
                        <a:spcAft>
                          <a:spcPts val="800"/>
                        </a:spcAft>
                      </a:pPr>
                      <a:r>
                        <a:rPr lang="en-US" sz="1600" b="1"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Types of livestock kept</a:t>
                      </a:r>
                      <a:endParaRPr lang="en-US" sz="1400" b="1" dirty="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nchor="b">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rowSpan="2" hMerge="1">
                  <a:txBody>
                    <a:bodyPr/>
                    <a:lstStyle/>
                    <a:p>
                      <a:endParaRPr lang="en-US"/>
                    </a:p>
                  </a:txBody>
                  <a:tcPr/>
                </a:tc>
                <a:tc gridSpan="2">
                  <a:txBody>
                    <a:bodyPr/>
                    <a:lstStyle/>
                    <a:p>
                      <a:pPr marR="38100" algn="ctr">
                        <a:lnSpc>
                          <a:spcPct val="107000"/>
                        </a:lnSpc>
                        <a:spcAft>
                          <a:spcPts val="800"/>
                        </a:spcAft>
                      </a:pPr>
                      <a:r>
                        <a:rPr lang="en-US" sz="1600" b="1">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Response</a:t>
                      </a:r>
                      <a:endParaRPr lang="en-US" sz="1400" b="1">
                        <a:effectLst/>
                        <a:latin typeface="Calibri" panose="020F0502020204030204" pitchFamily="34" charset="0"/>
                        <a:ea typeface="Calibri" panose="020F0502020204030204" pitchFamily="34" charset="0"/>
                        <a:cs typeface="SimSun" panose="02010600030101010101" pitchFamily="2" charset="-122"/>
                      </a:endParaRPr>
                    </a:p>
                  </a:txBody>
                  <a:tcPr marL="0" marR="0" marT="0" marB="0" anchor="b">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en-US"/>
                    </a:p>
                  </a:txBody>
                  <a:tcPr/>
                </a:tc>
              </a:tr>
              <a:tr h="552735">
                <a:tc gridSpan="2" vMerge="1">
                  <a:txBody>
                    <a:bodyPr/>
                    <a:lstStyle/>
                    <a:p>
                      <a:endParaRPr lang="en-US"/>
                    </a:p>
                  </a:txBody>
                  <a:tcPr/>
                </a:tc>
                <a:tc hMerge="1" vMerge="1">
                  <a:txBody>
                    <a:bodyPr/>
                    <a:lstStyle/>
                    <a:p>
                      <a:endParaRPr lang="en-US"/>
                    </a:p>
                  </a:txBody>
                  <a:tcPr/>
                </a:tc>
                <a:tc>
                  <a:txBody>
                    <a:bodyPr/>
                    <a:lstStyle/>
                    <a:p>
                      <a:pPr marR="38100" algn="just">
                        <a:lnSpc>
                          <a:spcPct val="107000"/>
                        </a:lnSpc>
                        <a:spcAft>
                          <a:spcPts val="800"/>
                        </a:spcAft>
                      </a:pPr>
                      <a:r>
                        <a:rPr lang="en-US" sz="1600" b="1"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Frequency</a:t>
                      </a:r>
                      <a:endParaRPr lang="en-US" sz="1400" b="1" dirty="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nchor="b">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R="38100" algn="just">
                        <a:lnSpc>
                          <a:spcPct val="107000"/>
                        </a:lnSpc>
                        <a:spcAft>
                          <a:spcPts val="800"/>
                        </a:spcAft>
                      </a:pPr>
                      <a:r>
                        <a:rPr lang="en-US" sz="1600" b="1"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Percent (%)</a:t>
                      </a:r>
                      <a:endParaRPr lang="en-US" sz="1400" b="1" dirty="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nchor="b">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327239">
                <a:tc rowSpan="7">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 </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R="38100" algn="just">
                        <a:lnSpc>
                          <a:spcPct val="107000"/>
                        </a:lnSpc>
                        <a:spcAft>
                          <a:spcPts val="800"/>
                        </a:spcAft>
                      </a:pPr>
                      <a:r>
                        <a:rPr lang="en-US" sz="16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Chickens</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marR="38100" algn="just">
                        <a:lnSpc>
                          <a:spcPct val="107000"/>
                        </a:lnSpc>
                        <a:spcAft>
                          <a:spcPts val="800"/>
                        </a:spcAft>
                      </a:pPr>
                      <a:r>
                        <a:rPr lang="en-US" sz="16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40</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12.3</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w="19050" cap="flat" cmpd="sng" algn="ctr">
                      <a:solidFill>
                        <a:srgbClr val="000000"/>
                      </a:solidFill>
                      <a:prstDash val="solid"/>
                      <a:round/>
                      <a:headEnd type="none" w="med" len="med"/>
                      <a:tailEnd type="none" w="med" len="med"/>
                    </a:lnT>
                    <a:lnB>
                      <a:noFill/>
                    </a:lnB>
                  </a:tcPr>
                </a:tc>
              </a:tr>
              <a:tr h="337506">
                <a:tc vMerge="1">
                  <a:txBody>
                    <a:bodyPr/>
                    <a:lstStyle/>
                    <a:p>
                      <a:endParaRPr lang="en-US"/>
                    </a:p>
                  </a:txBody>
                  <a:tcPr/>
                </a:tc>
                <a:tc>
                  <a:txBody>
                    <a:bodyPr/>
                    <a:lstStyle/>
                    <a:p>
                      <a:pPr marR="38100" algn="just">
                        <a:lnSpc>
                          <a:spcPct val="107000"/>
                        </a:lnSpc>
                        <a:spcAft>
                          <a:spcPts val="800"/>
                        </a:spcAft>
                      </a:pPr>
                      <a:r>
                        <a:rPr lang="en-US" sz="16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Ducks</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48</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14.8</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r>
              <a:tr h="337506">
                <a:tc vMerge="1">
                  <a:txBody>
                    <a:bodyPr/>
                    <a:lstStyle/>
                    <a:p>
                      <a:endParaRPr lang="en-US"/>
                    </a:p>
                  </a:txBody>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Cattle</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44</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13.6</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r>
              <a:tr h="337506">
                <a:tc vMerge="1">
                  <a:txBody>
                    <a:bodyPr/>
                    <a:lstStyle/>
                    <a:p>
                      <a:endParaRPr lang="en-US"/>
                    </a:p>
                  </a:txBody>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Goats</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49</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15.1</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r>
              <a:tr h="347131">
                <a:tc vMerge="1">
                  <a:txBody>
                    <a:bodyPr/>
                    <a:lstStyle/>
                    <a:p>
                      <a:endParaRPr lang="en-US"/>
                    </a:p>
                  </a:txBody>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Pigs</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54</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16.7</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r>
              <a:tr h="337506">
                <a:tc vMerge="1">
                  <a:txBody>
                    <a:bodyPr/>
                    <a:lstStyle/>
                    <a:p>
                      <a:endParaRPr lang="en-US"/>
                    </a:p>
                  </a:txBody>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Sheep</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39</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12.0</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r>
              <a:tr h="337506">
                <a:tc vMerge="1">
                  <a:txBody>
                    <a:bodyPr/>
                    <a:lstStyle/>
                    <a:p>
                      <a:endParaRPr lang="en-US"/>
                    </a:p>
                  </a:txBody>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Rabbits</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50</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15.4</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w="19050" cap="flat" cmpd="sng" algn="ctr">
                      <a:solidFill>
                        <a:srgbClr val="000000"/>
                      </a:solidFill>
                      <a:prstDash val="solid"/>
                      <a:round/>
                      <a:headEnd type="none" w="med" len="med"/>
                      <a:tailEnd type="none" w="med" len="med"/>
                    </a:lnB>
                  </a:tcPr>
                </a:tc>
              </a:tr>
              <a:tr h="327239">
                <a:tc gridSpan="2">
                  <a:txBody>
                    <a:bodyPr/>
                    <a:lstStyle/>
                    <a:p>
                      <a:pPr marR="38100" algn="just">
                        <a:lnSpc>
                          <a:spcPct val="107000"/>
                        </a:lnSpc>
                        <a:spcAft>
                          <a:spcPts val="800"/>
                        </a:spcAft>
                      </a:pPr>
                      <a:r>
                        <a:rPr lang="en-US" sz="16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Total</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324</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R="38100" algn="just">
                        <a:lnSpc>
                          <a:spcPct val="107000"/>
                        </a:lnSpc>
                        <a:spcAft>
                          <a:spcPts val="800"/>
                        </a:spcAft>
                      </a:pPr>
                      <a:r>
                        <a:rPr lang="en-US" sz="16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100</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
        <p:nvSpPr>
          <p:cNvPr id="4" name="Rectangle 3"/>
          <p:cNvSpPr/>
          <p:nvPr/>
        </p:nvSpPr>
        <p:spPr>
          <a:xfrm>
            <a:off x="6096000" y="224030"/>
            <a:ext cx="6096000" cy="1754326"/>
          </a:xfrm>
          <a:prstGeom prst="rect">
            <a:avLst/>
          </a:prstGeom>
        </p:spPr>
        <p:txBody>
          <a:bodyPr>
            <a:spAutoFit/>
          </a:bodyPr>
          <a:lstStyle/>
          <a:p>
            <a:pPr algn="just"/>
            <a:r>
              <a:rPr lang="en-US" dirty="0" smtClean="0">
                <a:solidFill>
                  <a:srgbClr val="000000"/>
                </a:solidFill>
                <a:effectLst/>
                <a:latin typeface="Times New Roman" panose="02020603050405020304" pitchFamily="18" charset="0"/>
                <a:ea typeface="Calibri" panose="020F0502020204030204" pitchFamily="34" charset="0"/>
              </a:rPr>
              <a:t>Regarding crops, maize is the most frequently harvested, representing 21.1% of responses and being harvested by 54.7% of respondents (Table 3). Vegetables (20.3%) and fruits (20.7%) follow closely, indicating a preference for diverse crops that can contribute both to household food security and income generation (table 3). </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192253943"/>
              </p:ext>
            </p:extLst>
          </p:nvPr>
        </p:nvGraphicFramePr>
        <p:xfrm>
          <a:off x="6210796" y="2129275"/>
          <a:ext cx="5670900" cy="3409681"/>
        </p:xfrm>
        <a:graphic>
          <a:graphicData uri="http://schemas.openxmlformats.org/drawingml/2006/table">
            <a:tbl>
              <a:tblPr/>
              <a:tblGrid>
                <a:gridCol w="2148094"/>
                <a:gridCol w="2148094"/>
                <a:gridCol w="687356"/>
                <a:gridCol w="687356"/>
              </a:tblGrid>
              <a:tr h="407092">
                <a:tc rowSpan="2" gridSpan="2">
                  <a:txBody>
                    <a:bodyPr/>
                    <a:lstStyle/>
                    <a:p>
                      <a:pPr algn="just">
                        <a:lnSpc>
                          <a:spcPct val="107000"/>
                        </a:lnSpc>
                        <a:spcAft>
                          <a:spcPts val="800"/>
                        </a:spcAft>
                      </a:pPr>
                      <a:r>
                        <a:rPr lang="en-US" sz="1600" b="1"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Types of crops harvested</a:t>
                      </a:r>
                      <a:endParaRPr lang="en-US" sz="1400" b="1" dirty="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nchor="b">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rowSpan="2" hMerge="1">
                  <a:txBody>
                    <a:bodyPr/>
                    <a:lstStyle/>
                    <a:p>
                      <a:endParaRPr lang="en-US"/>
                    </a:p>
                  </a:txBody>
                  <a:tcPr/>
                </a:tc>
                <a:tc gridSpan="2">
                  <a:txBody>
                    <a:bodyPr/>
                    <a:lstStyle/>
                    <a:p>
                      <a:pPr marR="38100" algn="ctr">
                        <a:lnSpc>
                          <a:spcPct val="107000"/>
                        </a:lnSpc>
                        <a:spcAft>
                          <a:spcPts val="800"/>
                        </a:spcAft>
                      </a:pPr>
                      <a:r>
                        <a:rPr lang="en-US" sz="1600" b="1">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Response</a:t>
                      </a:r>
                      <a:endParaRPr lang="en-US" sz="1400" b="1">
                        <a:effectLst/>
                        <a:latin typeface="Calibri" panose="020F0502020204030204" pitchFamily="34" charset="0"/>
                        <a:ea typeface="Calibri" panose="020F0502020204030204" pitchFamily="34" charset="0"/>
                        <a:cs typeface="SimSun" panose="02010600030101010101" pitchFamily="2" charset="-122"/>
                      </a:endParaRPr>
                    </a:p>
                  </a:txBody>
                  <a:tcPr marL="0" marR="0" marT="0" marB="0" anchor="b">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en-US"/>
                    </a:p>
                  </a:txBody>
                  <a:tcPr/>
                </a:tc>
              </a:tr>
              <a:tr h="492022">
                <a:tc gridSpan="2" vMerge="1">
                  <a:txBody>
                    <a:bodyPr/>
                    <a:lstStyle/>
                    <a:p>
                      <a:endParaRPr lang="en-US"/>
                    </a:p>
                  </a:txBody>
                  <a:tcPr/>
                </a:tc>
                <a:tc hMerge="1" vMerge="1">
                  <a:txBody>
                    <a:bodyPr/>
                    <a:lstStyle/>
                    <a:p>
                      <a:endParaRPr lang="en-US"/>
                    </a:p>
                  </a:txBody>
                  <a:tcPr/>
                </a:tc>
                <a:tc>
                  <a:txBody>
                    <a:bodyPr/>
                    <a:lstStyle/>
                    <a:p>
                      <a:pPr marR="38100" algn="just">
                        <a:lnSpc>
                          <a:spcPct val="107000"/>
                        </a:lnSpc>
                        <a:spcAft>
                          <a:spcPts val="800"/>
                        </a:spcAft>
                      </a:pPr>
                      <a:r>
                        <a:rPr lang="en-US" sz="1600" b="1"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Frequency</a:t>
                      </a:r>
                      <a:endParaRPr lang="en-US" sz="1400" b="1" dirty="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nchor="b">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R="38100" algn="just">
                        <a:lnSpc>
                          <a:spcPct val="107000"/>
                        </a:lnSpc>
                        <a:spcAft>
                          <a:spcPts val="800"/>
                        </a:spcAft>
                      </a:pPr>
                      <a:r>
                        <a:rPr lang="en-US" sz="1600" b="1"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Percent (%)</a:t>
                      </a:r>
                      <a:endParaRPr lang="en-US" sz="1400" b="1" dirty="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nchor="b">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407092">
                <a:tc rowSpan="5">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 </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Maize</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52</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w="19050" cap="flat" cmpd="sng" algn="ctr">
                      <a:solidFill>
                        <a:srgbClr val="000000"/>
                      </a:solidFill>
                      <a:prstDash val="solid"/>
                      <a:round/>
                      <a:headEnd type="none" w="med" len="med"/>
                      <a:tailEnd type="none" w="med" len="med"/>
                    </a:lnT>
                    <a:lnB>
                      <a:noFill/>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21.1</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w="19050" cap="flat" cmpd="sng" algn="ctr">
                      <a:solidFill>
                        <a:srgbClr val="000000"/>
                      </a:solidFill>
                      <a:prstDash val="solid"/>
                      <a:round/>
                      <a:headEnd type="none" w="med" len="med"/>
                      <a:tailEnd type="none" w="med" len="med"/>
                    </a:lnT>
                    <a:lnB>
                      <a:noFill/>
                    </a:lnB>
                  </a:tcPr>
                </a:tc>
              </a:tr>
              <a:tr h="419863">
                <a:tc vMerge="1">
                  <a:txBody>
                    <a:bodyPr/>
                    <a:lstStyle/>
                    <a:p>
                      <a:endParaRPr lang="en-US"/>
                    </a:p>
                  </a:txBody>
                  <a:tcPr/>
                </a:tc>
                <a:tc>
                  <a:txBody>
                    <a:bodyPr/>
                    <a:lstStyle/>
                    <a:p>
                      <a:pPr marR="38100" algn="just">
                        <a:lnSpc>
                          <a:spcPct val="107000"/>
                        </a:lnSpc>
                        <a:spcAft>
                          <a:spcPts val="800"/>
                        </a:spcAft>
                      </a:pPr>
                      <a:r>
                        <a:rPr lang="en-US" sz="16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Legumes</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44</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17.9</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r>
              <a:tr h="419863">
                <a:tc vMerge="1">
                  <a:txBody>
                    <a:bodyPr/>
                    <a:lstStyle/>
                    <a:p>
                      <a:endParaRPr lang="en-US"/>
                    </a:p>
                  </a:txBody>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Vegetables</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50</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20.3</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r>
              <a:tr h="419863">
                <a:tc vMerge="1">
                  <a:txBody>
                    <a:bodyPr/>
                    <a:lstStyle/>
                    <a:p>
                      <a:endParaRPr lang="en-US"/>
                    </a:p>
                  </a:txBody>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Beans</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49</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19.9</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a:noFill/>
                    </a:lnB>
                  </a:tcPr>
                </a:tc>
              </a:tr>
              <a:tr h="419863">
                <a:tc vMerge="1">
                  <a:txBody>
                    <a:bodyPr/>
                    <a:lstStyle/>
                    <a:p>
                      <a:endParaRPr lang="en-US"/>
                    </a:p>
                  </a:txBody>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Fruits</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51</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w="19050" cap="flat" cmpd="sng" algn="ctr">
                      <a:solidFill>
                        <a:srgbClr val="000000"/>
                      </a:solidFill>
                      <a:prstDash val="solid"/>
                      <a:round/>
                      <a:headEnd type="none" w="med" len="med"/>
                      <a:tailEnd type="none" w="med" len="med"/>
                    </a:lnB>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20.7</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a:noFill/>
                    </a:lnT>
                    <a:lnB w="19050" cap="flat" cmpd="sng" algn="ctr">
                      <a:solidFill>
                        <a:srgbClr val="000000"/>
                      </a:solidFill>
                      <a:prstDash val="solid"/>
                      <a:round/>
                      <a:headEnd type="none" w="med" len="med"/>
                      <a:tailEnd type="none" w="med" len="med"/>
                    </a:lnB>
                  </a:tcPr>
                </a:tc>
              </a:tr>
              <a:tr h="407092">
                <a:tc gridSpan="2">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Total</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R="38100" algn="just">
                        <a:lnSpc>
                          <a:spcPct val="107000"/>
                        </a:lnSpc>
                        <a:spcAft>
                          <a:spcPts val="800"/>
                        </a:spcAft>
                      </a:pPr>
                      <a:r>
                        <a:rPr lang="en-US" sz="160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246</a:t>
                      </a:r>
                      <a:endParaRPr lang="en-US" sz="140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R="38100" algn="just">
                        <a:lnSpc>
                          <a:spcPct val="107000"/>
                        </a:lnSpc>
                        <a:spcAft>
                          <a:spcPts val="800"/>
                        </a:spcAft>
                      </a:pPr>
                      <a:r>
                        <a:rPr lang="en-US" sz="1600" dirty="0">
                          <a:solidFill>
                            <a:srgbClr val="000000"/>
                          </a:solidFill>
                          <a:effectLst/>
                          <a:latin typeface="Times New Roman" panose="02020603050405020304" pitchFamily="18" charset="0"/>
                          <a:ea typeface="Calibri" panose="020F0502020204030204" pitchFamily="34" charset="0"/>
                          <a:cs typeface="SimSun" panose="02010600030101010101" pitchFamily="2" charset="-122"/>
                        </a:rPr>
                        <a:t>100</a:t>
                      </a:r>
                      <a:endParaRPr lang="en-US" sz="1400" dirty="0">
                        <a:effectLst/>
                        <a:latin typeface="Calibri" panose="020F0502020204030204" pitchFamily="34" charset="0"/>
                        <a:ea typeface="Calibri" panose="020F0502020204030204" pitchFamily="34" charset="0"/>
                        <a:cs typeface="SimSun" panose="02010600030101010101" pitchFamily="2" charset="-122"/>
                      </a:endParaRPr>
                    </a:p>
                  </a:txBody>
                  <a:tcPr marL="0" marR="0" marT="0" marB="0">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736103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044" y="-183282"/>
            <a:ext cx="6096000" cy="1856919"/>
          </a:xfrm>
          <a:prstGeom prst="rect">
            <a:avLst/>
          </a:prstGeom>
        </p:spPr>
        <p:txBody>
          <a:bodyPr>
            <a:spAutoFit/>
          </a:bodyPr>
          <a:lstStyle/>
          <a:p>
            <a:pPr marL="342900" indent="-343535" algn="just">
              <a:lnSpc>
                <a:spcPct val="200000"/>
              </a:lnSpc>
              <a:spcAft>
                <a:spcPts val="800"/>
              </a:spcAft>
              <a:tabLst>
                <a:tab pos="342900" algn="l"/>
              </a:tabLst>
            </a:pPr>
            <a:r>
              <a:rPr lang="en-US" b="1" dirty="0" smtClean="0">
                <a:solidFill>
                  <a:srgbClr val="000000"/>
                </a:solidFill>
                <a:effectLst/>
                <a:latin typeface="Times New Roman" panose="02020603050405020304" pitchFamily="18" charset="0"/>
                <a:ea typeface="Times New Roman" panose="02020603050405020304" pitchFamily="18" charset="0"/>
              </a:rPr>
              <a:t>Practices for crops and livestock used</a:t>
            </a:r>
            <a:endParaRPr lang="en-US" b="1" dirty="0" smtClean="0">
              <a:effectLst/>
              <a:latin typeface="Times New Roman" panose="02020603050405020304" pitchFamily="18" charset="0"/>
              <a:ea typeface="Times New Roman" panose="02020603050405020304" pitchFamily="18" charset="0"/>
            </a:endParaRPr>
          </a:p>
          <a:p>
            <a:pPr algn="just"/>
            <a:r>
              <a:rPr lang="en-US" dirty="0" smtClean="0">
                <a:solidFill>
                  <a:srgbClr val="000000"/>
                </a:solidFill>
                <a:effectLst/>
                <a:latin typeface="Times New Roman" panose="02020603050405020304" pitchFamily="18" charset="0"/>
                <a:ea typeface="Calibri" panose="020F0502020204030204" pitchFamily="34" charset="0"/>
              </a:rPr>
              <a:t>The results from the study shows that crop rotation is the most common practice, with 43.9% of respondents employing it (Table 4). The use of fertilizers (35.7%) and irrigation (20.4%) are also notable (Table 4). </a:t>
            </a:r>
            <a:endParaRPr lang="en-US" dirty="0"/>
          </a:p>
        </p:txBody>
      </p:sp>
      <p:sp>
        <p:nvSpPr>
          <p:cNvPr id="3" name="Rectangle 2"/>
          <p:cNvSpPr/>
          <p:nvPr/>
        </p:nvSpPr>
        <p:spPr>
          <a:xfrm>
            <a:off x="91044" y="1673637"/>
            <a:ext cx="6096000" cy="923330"/>
          </a:xfrm>
          <a:prstGeom prst="rect">
            <a:avLst/>
          </a:prstGeom>
        </p:spPr>
        <p:txBody>
          <a:bodyPr>
            <a:spAutoFit/>
          </a:bodyPr>
          <a:lstStyle/>
          <a:p>
            <a:pPr algn="just"/>
            <a:r>
              <a:rPr lang="en-US" dirty="0">
                <a:solidFill>
                  <a:srgbClr val="000000"/>
                </a:solidFill>
                <a:latin typeface="Times New Roman" panose="02020603050405020304" pitchFamily="18" charset="0"/>
                <a:ea typeface="Calibri" panose="020F0502020204030204" pitchFamily="34" charset="0"/>
              </a:rPr>
              <a:t>F</a:t>
            </a:r>
            <a:r>
              <a:rPr lang="en-US" dirty="0" smtClean="0">
                <a:solidFill>
                  <a:srgbClr val="000000"/>
                </a:solidFill>
                <a:effectLst/>
                <a:latin typeface="Times New Roman" panose="02020603050405020304" pitchFamily="18" charset="0"/>
                <a:ea typeface="Calibri" panose="020F0502020204030204" pitchFamily="34" charset="0"/>
              </a:rPr>
              <a:t>or livestock, zero grazing is the most common practice, used by 43.9% of respondents, followed by manure management (35.7%) and veterinary services (20.4%) (Table 4). </a:t>
            </a:r>
            <a:endParaRPr lang="en-US" dirty="0"/>
          </a:p>
        </p:txBody>
      </p:sp>
    </p:spTree>
    <p:extLst>
      <p:ext uri="{BB962C8B-B14F-4D97-AF65-F5344CB8AC3E}">
        <p14:creationId xmlns:p14="http://schemas.microsoft.com/office/powerpoint/2010/main" val="31902221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300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9833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15678" y="-195506"/>
            <a:ext cx="2919582" cy="620042"/>
          </a:xfrm>
          <a:prstGeom prst="rect">
            <a:avLst/>
          </a:prstGeom>
        </p:spPr>
        <p:txBody>
          <a:bodyPr wrap="none">
            <a:spAutoFit/>
          </a:bodyPr>
          <a:lstStyle/>
          <a:p>
            <a:pPr algn="ctr">
              <a:lnSpc>
                <a:spcPct val="200000"/>
              </a:lnSpc>
              <a:spcBef>
                <a:spcPts val="1200"/>
              </a:spcBef>
              <a:spcAft>
                <a:spcPts val="800"/>
              </a:spcAft>
            </a:pPr>
            <a:r>
              <a:rPr lang="en-US" sz="2000" b="1" kern="1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RECOMMENDATIONS</a:t>
            </a:r>
            <a:endParaRPr lang="en-US" sz="2800" b="1" kern="100" dirty="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3" name="Rectangle 2"/>
          <p:cNvSpPr/>
          <p:nvPr/>
        </p:nvSpPr>
        <p:spPr>
          <a:xfrm>
            <a:off x="0" y="424536"/>
            <a:ext cx="6209066" cy="6463308"/>
          </a:xfrm>
          <a:prstGeom prst="rect">
            <a:avLst/>
          </a:prstGeom>
        </p:spPr>
        <p:txBody>
          <a:bodyPr wrap="square">
            <a:spAutoFit/>
          </a:bodyPr>
          <a:lstStyle/>
          <a:p>
            <a:pPr marL="285750" indent="-285750" algn="just">
              <a:buFont typeface="Arial" panose="020B0604020202020204" pitchFamily="34" charset="0"/>
              <a:buChar char="•"/>
            </a:pPr>
            <a:r>
              <a:rPr lang="en-US"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Demographic data of the respondents suggests a predominantly youthful population engaged in urban agriculture, with a significant proportion of participants aged between 18-29 years. This demographic pattern is likely to influence the adoption of innovative agricultural practices, as younger individuals tend to be more adaptable and open to new methods.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gender distribution In urban agriculture reveals a nearly balanced participation between males and females, although a slight male dominance is observed. This gender balance suggests that urban farming is an inclusive activity, though traditional gender roles may still play a part in the dynamics of participation</a:t>
            </a:r>
            <a:r>
              <a:rPr lang="en-US" dirty="0" smtClean="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a:t>
            </a:r>
            <a:r>
              <a:rPr lang="en-US" dirty="0" smtClean="0">
                <a:latin typeface="Times New Roman" panose="02020603050405020304" pitchFamily="18" charset="0"/>
                <a:cs typeface="Times New Roman" panose="02020603050405020304" pitchFamily="18" charset="0"/>
              </a:rPr>
              <a:t>farming </a:t>
            </a:r>
            <a:r>
              <a:rPr lang="en-US" dirty="0">
                <a:latin typeface="Times New Roman" panose="02020603050405020304" pitchFamily="18" charset="0"/>
                <a:cs typeface="Times New Roman" panose="02020603050405020304" pitchFamily="18" charset="0"/>
              </a:rPr>
              <a:t>practices, the data indicates a wide range of involvement levels, with moderate participation being the most common. Specific practices such as crop rotation and zero grazing are prevalent, reflecting a commitment to sustainable farming methods among respondents. Moreover, the marketing strategies employed, including home delivery services, suggest an adaptation to the urban context, where convenience and direct consumer engagement are prioritized to meet the demands of the urban market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p>
        </p:txBody>
      </p:sp>
      <p:sp>
        <p:nvSpPr>
          <p:cNvPr id="4" name="Rectangle 3"/>
          <p:cNvSpPr/>
          <p:nvPr/>
        </p:nvSpPr>
        <p:spPr>
          <a:xfrm>
            <a:off x="1399575" y="0"/>
            <a:ext cx="1935145" cy="369332"/>
          </a:xfrm>
          <a:prstGeom prst="rect">
            <a:avLst/>
          </a:prstGeom>
        </p:spPr>
        <p:txBody>
          <a:bodyPr wrap="none">
            <a:spAutoFit/>
          </a:bodyPr>
          <a:lstStyle/>
          <a:p>
            <a:r>
              <a:rPr lang="en-US" b="1" kern="1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CONCLUSIONS </a:t>
            </a:r>
            <a:endParaRPr lang="en-US" dirty="0"/>
          </a:p>
        </p:txBody>
      </p:sp>
      <p:sp>
        <p:nvSpPr>
          <p:cNvPr id="5" name="Rectangle 4"/>
          <p:cNvSpPr/>
          <p:nvPr/>
        </p:nvSpPr>
        <p:spPr>
          <a:xfrm>
            <a:off x="6311985" y="424536"/>
            <a:ext cx="5880015" cy="3693319"/>
          </a:xfrm>
          <a:prstGeom prst="rect">
            <a:avLst/>
          </a:prstGeom>
        </p:spPr>
        <p:txBody>
          <a:bodyPr wrap="square">
            <a:spAutoFit/>
          </a:bodyPr>
          <a:lstStyle/>
          <a:p>
            <a:pPr marL="285750" indent="-285750" algn="just">
              <a:buFont typeface="Arial" panose="020B0604020202020204" pitchFamily="34" charset="0"/>
              <a:buChar char="•"/>
            </a:pPr>
            <a:r>
              <a:rPr lang="en-US"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Programs aimed at introducing and training younger farmers in advanced agricultural practices, such as precision farming, hydroponics, and vertical gardening, could significantly enhance productivity and sustainability.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balanced gender participation in urban agriculture, though slightly skewed towards males, presents an opportunity to foster inclusivity and equity within this sector</a:t>
            </a:r>
            <a:r>
              <a:rPr lang="en-US" dirty="0" smtClean="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Given the commitment to sustainable practices like crop rotation and zero grazing, and the adaptation to urban market demands through marketing strategies such as home delivery services, it is recommended to further promote these practices.</a:t>
            </a:r>
          </a:p>
        </p:txBody>
      </p:sp>
    </p:spTree>
    <p:extLst>
      <p:ext uri="{BB962C8B-B14F-4D97-AF65-F5344CB8AC3E}">
        <p14:creationId xmlns:p14="http://schemas.microsoft.com/office/powerpoint/2010/main" val="3990684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2149</Words>
  <Application>Microsoft Office PowerPoint</Application>
  <PresentationFormat>Widescreen</PresentationFormat>
  <Paragraphs>242</Paragraphs>
  <Slides>16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SimSun</vt:lpstr>
      <vt:lpstr>Arial</vt:lpstr>
      <vt:lpstr>Calibri</vt:lpstr>
      <vt:lpstr>Calibri Light</vt:lpstr>
      <vt:lpstr>Liberation Serif</vt:lpstr>
      <vt:lpstr>Palatino Linotype</vt:lpstr>
      <vt:lpstr>Symbol</vt:lpstr>
      <vt:lpstr>Times New Roman</vt:lpstr>
      <vt:lpstr>Yu Mincho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9</cp:revision>
  <dcterms:created xsi:type="dcterms:W3CDTF">2024-08-27T16:54:33Z</dcterms:created>
  <dcterms:modified xsi:type="dcterms:W3CDTF">2024-08-27T18:07:38Z</dcterms:modified>
</cp:coreProperties>
</file>